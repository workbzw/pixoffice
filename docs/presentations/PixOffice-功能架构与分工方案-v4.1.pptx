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716d665be6481d" /><Relationship Type="http://schemas.openxmlformats.org/officeDocument/2006/relationships/extended-properties" Target="/docProps/app.xml" Id="Raf669e8912a5450d" /><Relationship Type="http://schemas.openxmlformats.org/officeDocument/2006/relationships/officeDocument" Target="/ppt/presentation.xml" Id="R308d4722ba3a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df147deb324a98"/>
  </p:sldMasterIdLst>
  <p:notesMasterIdLst>
    <p:notesMasterId xmlns:r="http://schemas.openxmlformats.org/officeDocument/2006/relationships" r:id="R1396aa2c1d144881"/>
  </p:notesMasterIdLst>
  <p:sldIdLst>
    <p:sldId xmlns:r="http://schemas.openxmlformats.org/officeDocument/2006/relationships" id="256" r:id="Rb0a7276763ee45c0"/>
    <p:sldId xmlns:r="http://schemas.openxmlformats.org/officeDocument/2006/relationships" id="257" r:id="Rbee9ee96cebb4953"/>
    <p:sldId xmlns:r="http://schemas.openxmlformats.org/officeDocument/2006/relationships" id="258" r:id="R7311926950d449c4"/>
    <p:sldId xmlns:r="http://schemas.openxmlformats.org/officeDocument/2006/relationships" id="259" r:id="Rfd9ef3a3dcf74bd6"/>
    <p:sldId xmlns:r="http://schemas.openxmlformats.org/officeDocument/2006/relationships" id="260" r:id="R8cd3fffaac474d65"/>
    <p:sldId xmlns:r="http://schemas.openxmlformats.org/officeDocument/2006/relationships" id="261" r:id="R40f9b7bf94dd4200"/>
    <p:sldId xmlns:r="http://schemas.openxmlformats.org/officeDocument/2006/relationships" id="262" r:id="R2eaf1dce64644abd"/>
    <p:sldId xmlns:r="http://schemas.openxmlformats.org/officeDocument/2006/relationships" id="263" r:id="R1bb032333edc4530"/>
    <p:sldId xmlns:r="http://schemas.openxmlformats.org/officeDocument/2006/relationships" id="264" r:id="R9bba259814e84f75"/>
    <p:sldId xmlns:r="http://schemas.openxmlformats.org/officeDocument/2006/relationships" id="265" r:id="R7d271b9095974f33"/>
    <p:sldId xmlns:r="http://schemas.openxmlformats.org/officeDocument/2006/relationships" id="266" r:id="R3d629b27ee9c4542"/>
    <p:sldId xmlns:r="http://schemas.openxmlformats.org/officeDocument/2006/relationships" id="267" r:id="R02919891f2a34e65"/>
    <p:sldId xmlns:r="http://schemas.openxmlformats.org/officeDocument/2006/relationships" id="268" r:id="Rc97be036e6654aeb"/>
    <p:sldId xmlns:r="http://schemas.openxmlformats.org/officeDocument/2006/relationships" id="269" r:id="Rd73b22e75d0343cf"/>
    <p:sldId xmlns:r="http://schemas.openxmlformats.org/officeDocument/2006/relationships" id="270" r:id="R320f77568d8b4219"/>
    <p:sldId xmlns:r="http://schemas.openxmlformats.org/officeDocument/2006/relationships" id="271" r:id="R52a8abb0988040b9"/>
    <p:sldId xmlns:r="http://schemas.openxmlformats.org/officeDocument/2006/relationships" id="272" r:id="R57fc6d11c4004078"/>
    <p:sldId xmlns:r="http://schemas.openxmlformats.org/officeDocument/2006/relationships" id="273" r:id="R777e65ab14bb43dc"/>
    <p:sldId xmlns:r="http://schemas.openxmlformats.org/officeDocument/2006/relationships" id="274" r:id="R4f1fcc43b47f4ae7"/>
    <p:sldId xmlns:r="http://schemas.openxmlformats.org/officeDocument/2006/relationships" id="275" r:id="R9d954b436bca4ef0"/>
    <p:sldId xmlns:r="http://schemas.openxmlformats.org/officeDocument/2006/relationships" id="276" r:id="R50cabbfd3b124392"/>
    <p:sldId xmlns:r="http://schemas.openxmlformats.org/officeDocument/2006/relationships" id="277" r:id="R860db23db9d9496a"/>
    <p:sldId xmlns:r="http://schemas.openxmlformats.org/officeDocument/2006/relationships" id="278" r:id="R51389790165b44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350d3a03e492b" /><Relationship Type="http://schemas.openxmlformats.org/officeDocument/2006/relationships/slideMaster" Target="/ppt/slideMasters/slideMaster1.xml" Id="R12df147deb324a98" /><Relationship Type="http://schemas.openxmlformats.org/officeDocument/2006/relationships/notesMaster" Target="/ppt/notesMasters/notesMaster1.xml" Id="R1396aa2c1d144881" /><Relationship Type="http://schemas.openxmlformats.org/officeDocument/2006/relationships/presProps" Target="/ppt/presProps.xml" Id="R2356fd27fb6d43a0" /><Relationship Type="http://schemas.openxmlformats.org/officeDocument/2006/relationships/tableStyles" Target="/ppt/tableStyles.xml" Id="R4156ae00d7df498d" /><Relationship Type="http://schemas.openxmlformats.org/officeDocument/2006/relationships/slide" Target="/ppt/slides/slide1.xml" Id="Rb0a7276763ee45c0" /><Relationship Type="http://schemas.openxmlformats.org/officeDocument/2006/relationships/slide" Target="/ppt/slides/slide2.xml" Id="Rbee9ee96cebb4953" /><Relationship Type="http://schemas.openxmlformats.org/officeDocument/2006/relationships/slide" Target="/ppt/slides/slide3.xml" Id="R7311926950d449c4" /><Relationship Type="http://schemas.openxmlformats.org/officeDocument/2006/relationships/slide" Target="/ppt/slides/slide4.xml" Id="Rfd9ef3a3dcf74bd6" /><Relationship Type="http://schemas.openxmlformats.org/officeDocument/2006/relationships/slide" Target="/ppt/slides/slide5.xml" Id="R8cd3fffaac474d65" /><Relationship Type="http://schemas.openxmlformats.org/officeDocument/2006/relationships/slide" Target="/ppt/slides/slide6.xml" Id="R40f9b7bf94dd4200" /><Relationship Type="http://schemas.openxmlformats.org/officeDocument/2006/relationships/slide" Target="/ppt/slides/slide7.xml" Id="R2eaf1dce64644abd" /><Relationship Type="http://schemas.openxmlformats.org/officeDocument/2006/relationships/slide" Target="/ppt/slides/slide8.xml" Id="R1bb032333edc4530" /><Relationship Type="http://schemas.openxmlformats.org/officeDocument/2006/relationships/slide" Target="/ppt/slides/slide9.xml" Id="R9bba259814e84f75" /><Relationship Type="http://schemas.openxmlformats.org/officeDocument/2006/relationships/slide" Target="/ppt/slides/slide10.xml" Id="R7d271b9095974f33" /><Relationship Type="http://schemas.openxmlformats.org/officeDocument/2006/relationships/slide" Target="/ppt/slides/slide11.xml" Id="R3d629b27ee9c4542" /><Relationship Type="http://schemas.openxmlformats.org/officeDocument/2006/relationships/slide" Target="/ppt/slides/slide12.xml" Id="R02919891f2a34e65" /><Relationship Type="http://schemas.openxmlformats.org/officeDocument/2006/relationships/slide" Target="/ppt/slides/slide13.xml" Id="Rc97be036e6654aeb" /><Relationship Type="http://schemas.openxmlformats.org/officeDocument/2006/relationships/slide" Target="/ppt/slides/slide14.xml" Id="Rd73b22e75d0343cf" /><Relationship Type="http://schemas.openxmlformats.org/officeDocument/2006/relationships/slide" Target="/ppt/slides/slide15.xml" Id="R320f77568d8b4219" /><Relationship Type="http://schemas.openxmlformats.org/officeDocument/2006/relationships/slide" Target="/ppt/slides/slide16.xml" Id="R52a8abb0988040b9" /><Relationship Type="http://schemas.openxmlformats.org/officeDocument/2006/relationships/slide" Target="/ppt/slides/slide17.xml" Id="R57fc6d11c4004078" /><Relationship Type="http://schemas.openxmlformats.org/officeDocument/2006/relationships/slide" Target="/ppt/slides/slide18.xml" Id="R777e65ab14bb43dc" /><Relationship Type="http://schemas.openxmlformats.org/officeDocument/2006/relationships/slide" Target="/ppt/slides/slide19.xml" Id="R4f1fcc43b47f4ae7" /><Relationship Type="http://schemas.openxmlformats.org/officeDocument/2006/relationships/slide" Target="/ppt/slides/slide20.xml" Id="R9d954b436bca4ef0" /><Relationship Type="http://schemas.openxmlformats.org/officeDocument/2006/relationships/slide" Target="/ppt/slides/slide21.xml" Id="R50cabbfd3b124392" /><Relationship Type="http://schemas.openxmlformats.org/officeDocument/2006/relationships/slide" Target="/ppt/slides/slide22.xml" Id="R860db23db9d9496a" /><Relationship Type="http://schemas.openxmlformats.org/officeDocument/2006/relationships/slide" Target="/ppt/slides/slide23.xml" Id="R51389790165b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7c53a1f9774f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ebc4982a74540" /><Relationship Type="http://schemas.openxmlformats.org/officeDocument/2006/relationships/notesMaster" Target="/ppt/notesMasters/notesMaster1.xml" Id="R2da4672525d2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7457b080ae4274" /><Relationship Type="http://schemas.openxmlformats.org/officeDocument/2006/relationships/notesMaster" Target="/ppt/notesMasters/notesMaster1.xml" Id="Rdc4e527a2d70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2603868684899" /><Relationship Type="http://schemas.openxmlformats.org/officeDocument/2006/relationships/notesMaster" Target="/ppt/notesMasters/notesMaster1.xml" Id="R2e682d45a3f1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234c370a984633" /><Relationship Type="http://schemas.openxmlformats.org/officeDocument/2006/relationships/notesMaster" Target="/ppt/notesMasters/notesMaster1.xml" Id="R04108346b3c146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e9573f28c3447f" /><Relationship Type="http://schemas.openxmlformats.org/officeDocument/2006/relationships/notesMaster" Target="/ppt/notesMasters/notesMaster1.xml" Id="R63565985e0254e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c9e44275c40d6" /><Relationship Type="http://schemas.openxmlformats.org/officeDocument/2006/relationships/notesMaster" Target="/ppt/notesMasters/notesMaster1.xml" Id="R417dcc58fe8042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5eb796d0824a7d" /><Relationship Type="http://schemas.openxmlformats.org/officeDocument/2006/relationships/notesMaster" Target="/ppt/notesMasters/notesMaster1.xml" Id="R04e58fac629f4f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55299d486248d0" /><Relationship Type="http://schemas.openxmlformats.org/officeDocument/2006/relationships/notesMaster" Target="/ppt/notesMasters/notesMaster1.xml" Id="Rd35f1ce0441b4d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8b5b778ac34d55" /><Relationship Type="http://schemas.openxmlformats.org/officeDocument/2006/relationships/notesMaster" Target="/ppt/notesMasters/notesMaster1.xml" Id="R06bc706de27d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d25fe7588c44c0" /><Relationship Type="http://schemas.openxmlformats.org/officeDocument/2006/relationships/notesMaster" Target="/ppt/notesMasters/notesMaster1.xml" Id="Rf4098862c02945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9907fed424f67" /><Relationship Type="http://schemas.openxmlformats.org/officeDocument/2006/relationships/notesMaster" Target="/ppt/notesMasters/notesMaster1.xml" Id="R41792d50e75949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a1dfb32e844b55" /><Relationship Type="http://schemas.openxmlformats.org/officeDocument/2006/relationships/notesMaster" Target="/ppt/notesMasters/notesMaster1.xml" Id="Re3327f60ad6b47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b3019f907e453d" /><Relationship Type="http://schemas.openxmlformats.org/officeDocument/2006/relationships/notesMaster" Target="/ppt/notesMasters/notesMaster1.xml" Id="R6a06f7f6f03847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b03f02585c4136" /><Relationship Type="http://schemas.openxmlformats.org/officeDocument/2006/relationships/notesMaster" Target="/ppt/notesMasters/notesMaster1.xml" Id="R6e5148d7807c4f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6f8f9e21294c31" /><Relationship Type="http://schemas.openxmlformats.org/officeDocument/2006/relationships/notesMaster" Target="/ppt/notesMasters/notesMaster1.xml" Id="R7a9b0fb9992b4c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b127c253ab4370" /><Relationship Type="http://schemas.openxmlformats.org/officeDocument/2006/relationships/notesMaster" Target="/ppt/notesMasters/notesMaster1.xml" Id="R1828149a6c0b4b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eee3eec0a54810" /><Relationship Type="http://schemas.openxmlformats.org/officeDocument/2006/relationships/notesMaster" Target="/ppt/notesMasters/notesMaster1.xml" Id="R8cf48fabc99c41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1cbebdd404680" /><Relationship Type="http://schemas.openxmlformats.org/officeDocument/2006/relationships/notesMaster" Target="/ppt/notesMasters/notesMaster1.xml" Id="Rb6b8debe32a74e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8ec33a98d24109" /><Relationship Type="http://schemas.openxmlformats.org/officeDocument/2006/relationships/notesMaster" Target="/ppt/notesMasters/notesMaster1.xml" Id="R7ad363f40a914f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a14347e2b64e1e" /><Relationship Type="http://schemas.openxmlformats.org/officeDocument/2006/relationships/notesMaster" Target="/ppt/notesMasters/notesMaster1.xml" Id="Ra7ae94d47cb145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6d058ff66c423e" /><Relationship Type="http://schemas.openxmlformats.org/officeDocument/2006/relationships/notesMaster" Target="/ppt/notesMasters/notesMaster1.xml" Id="R04c749956edd4c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9b08b9b7094dbf" /><Relationship Type="http://schemas.openxmlformats.org/officeDocument/2006/relationships/notesMaster" Target="/ppt/notesMasters/notesMaster1.xml" Id="R17e971c321a445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67c5c1b5ee48cb" /><Relationship Type="http://schemas.openxmlformats.org/officeDocument/2006/relationships/notesMaster" Target="/ppt/notesMasters/notesMaster1.xml" Id="Rf45f2cc6ae1c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修订。日期：2026-09-30。除明确标注的现有能力外，分包、人员分工及发布机制均为目标方案，不代表已全部实现。封面截图更新为 PixOffice 当前页面（docs/page-preview.jpeg），其中业务数据为示例，不代表已接入真实业务服务。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修订。日期：2026-09-30。除明确标注的现有能力外，分包、人员分工及发布机制均为目标方案，不代表已全部实现。项目定位依据仓库 README.md、docs/plugin-runtime.md、docs/dashboard-integration.md。本文中的外部业务系统可以是 Agent 平台，也可以是普通业务程序。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修订。日期：2026-09-30。除明确标注的现有能力外，分包、人员分工及发布机制均为目标方案，不代表已全部实现。现有功能依据 README.md 与 docs/plugin-runtime.md；素材准入依据 docs/character-admission.md。本次未重新执行全部产品测试，不作质量或完整性保证。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修订。日期：2026-09-30。除明确标注的现有能力外，分包、人员分工及发布机制均为目标方案，不代表已全部实现。示意链路不规定业务与场景必须串行等待。宿主决定编排方式。现有协议可用 activity.start / office.visit 表达工位拜访，用 actor.presentation.set 更新业务展示。业务交付物由宿主系统提供。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修订。日期：2026-09-30。除明确标注的现有能力外，分包、人员分工及发布机制均为目标方案，不代表已全部实现。目标上地图编辑逻辑保留为独立模块或子入口，不要求所有使用运行时的宿主载入编辑器 UI。姿态语义由运行时维护，实际帧采样与动画插值由表现层执行。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修订。日期：2026-09-30。除明确标注的现有能力外，分包、人员分工及发布机制均为目标方案，不代表已全部实现。四个包是目标逻辑边界，尚未视为已发布包。office-pack 的逻辑和视觉采用不同导出入口，不能让 logic 入口间接载入 Pixi。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修订。日期：2026-09-30。除明确标注的现有能力外，分包、人员分工及发布机制均为目标方案，不代表已全部实现。这是目标目录，不是当前目录的照抄。现有 art/characters/packs、scripts/characters、src/runtime 等可以渐进迁移。HTTP/存储适配器先为应用模块，有独立复用需求后再提包。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饮水机为目标扩展示例，当前不宣称已有可用饮水机插件。缺少匹配动作时应报告能力不支持，不能静默采用不兼容姿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修订。日期：2026-09-30。除明确标注的现有能力外，分包、人员分工及发布机制均为目标方案，不代表已全部实现。依据 docs/character-admission.md：仓库已有暂存、自动审计、隔离预览、视觉审核与发布流程。现有六个人物按原内容冻结兼容，不等于旧素材已经通过新标准。本页将该流程归入目标分包体系。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职责不是固定编制：小团队一人可承担多项，大团队可围绕接口独立推进。三人示例可由管理者兼架构与整体验收，执行者 A 负责运行时和接入，执行者 B 负责视觉、内容和工具；需按实际技能调整，不改变包边界。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承接责任矩阵。每个工作域可以独立安排维护任务，但需要完整功能验收，不能仅交付抽象模块而不验证最终用户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渐进迁移保留现有实现与素材，优先建立验证再拆包，不以大规模重写作为前提。包仅在边界经过真实复用验证后决定公开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PixOffice-模块化与插件化架构-v2.pptx 修订。日期：2026-09-30。除明确标注的现有能力外，分包、人员分工及发布机制均为目标方案，不代表已全部实现。现有基础依据 README.md、docs/plugin-runtime.md、docs/character-admission.md 及相应目录检查。本次是架构文档修订，未重新运行整套产品测试。开源交付是待完成清单，不能理解为当前已具备生产安全能力。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373ac27ae43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06d33df694bc1" /><Relationship Type="http://schemas.openxmlformats.org/officeDocument/2006/relationships/slideLayout" Target="/ppt/slideLayouts/slideLayout1.xml" Id="R839d32eedc4f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d32eedc4f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25a3f7fd4ac8" /><Relationship Type="http://schemas.openxmlformats.org/officeDocument/2006/relationships/image" Target="/ppt/media/image.jpeg" Id="R07128d351f8c4f5d" /><Relationship Type="http://schemas.openxmlformats.org/officeDocument/2006/relationships/hyperlink" Target="https://pixoffice.online/" TargetMode="External" Id="Rcdd1c3eb7cd1481f" /><Relationship Type="http://schemas.openxmlformats.org/officeDocument/2006/relationships/notesSlide" Target="/ppt/notesSlides/notesSlide1.xml" Id="Ra776d2c9348a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1f1051d3745e1" /><Relationship Type="http://schemas.openxmlformats.org/officeDocument/2006/relationships/notesSlide" Target="/ppt/notesSlides/notesSlide2.xml" Id="Reb500f03e0fe41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3fe946c52420d" /><Relationship Type="http://schemas.openxmlformats.org/officeDocument/2006/relationships/notesSlide" Target="/ppt/notesSlides/notesSlide3.xml" Id="Rc48df265a95e47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bd0c1850848fc" /><Relationship Type="http://schemas.openxmlformats.org/officeDocument/2006/relationships/notesSlide" Target="/ppt/notesSlides/notesSlide4.xml" Id="Rd3fce345c0f04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a5fc36c74ed3" /><Relationship Type="http://schemas.openxmlformats.org/officeDocument/2006/relationships/notesSlide" Target="/ppt/notesSlides/notesSlide5.xml" Id="Rf1ac8f82c53d4a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a8e60ae814cc7" /><Relationship Type="http://schemas.openxmlformats.org/officeDocument/2006/relationships/notesSlide" Target="/ppt/notesSlides/notesSlide6.xml" Id="R85d7514d89c7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1f5a26d1247d3" /><Relationship Type="http://schemas.openxmlformats.org/officeDocument/2006/relationships/notesSlide" Target="/ppt/notesSlides/notesSlide7.xml" Id="R02dd0b5116ea47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c5ffbd8b845c2" /><Relationship Type="http://schemas.openxmlformats.org/officeDocument/2006/relationships/notesSlide" Target="/ppt/notesSlides/notesSlide8.xml" Id="Rea1e76739ca149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b2c31ca0415d" /><Relationship Type="http://schemas.openxmlformats.org/officeDocument/2006/relationships/notesSlide" Target="/ppt/notesSlides/notesSlide9.xml" Id="Ra8d7f63b5f614a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c8f4bfbfa46e3" /><Relationship Type="http://schemas.openxmlformats.org/officeDocument/2006/relationships/notesSlide" Target="/ppt/notesSlides/notesSlide10.xml" Id="R60a3dfbb33b242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ce213478e4634" /><Relationship Type="http://schemas.openxmlformats.org/officeDocument/2006/relationships/notesSlide" Target="/ppt/notesSlides/notesSlide11.xml" Id="R48889b2f6d2d40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d989145f41c9" /><Relationship Type="http://schemas.openxmlformats.org/officeDocument/2006/relationships/notesSlide" Target="/ppt/notesSlides/notesSlide12.xml" Id="Rdb873e72f52d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655b350df4a1c" /><Relationship Type="http://schemas.openxmlformats.org/officeDocument/2006/relationships/notesSlide" Target="/ppt/notesSlides/notesSlide13.xml" Id="R267cf3ada49540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b536b14b4b92" /><Relationship Type="http://schemas.openxmlformats.org/officeDocument/2006/relationships/notesSlide" Target="/ppt/notesSlides/notesSlide14.xml" Id="Rbda39df190bb46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8622e2be4eaf" /><Relationship Type="http://schemas.openxmlformats.org/officeDocument/2006/relationships/notesSlide" Target="/ppt/notesSlides/notesSlide15.xml" Id="Rced8bba752c444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11d7afeec4064" /><Relationship Type="http://schemas.openxmlformats.org/officeDocument/2006/relationships/notesSlide" Target="/ppt/notesSlides/notesSlide16.xml" Id="R8e7b2b2968cf4c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03e622f4c4cfa" /><Relationship Type="http://schemas.openxmlformats.org/officeDocument/2006/relationships/notesSlide" Target="/ppt/notesSlides/notesSlide17.xml" Id="R07f1a611b43448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a411353274270" /><Relationship Type="http://schemas.openxmlformats.org/officeDocument/2006/relationships/notesSlide" Target="/ppt/notesSlides/notesSlide18.xml" Id="Rea9eff47650345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417126ee4c6d" /><Relationship Type="http://schemas.openxmlformats.org/officeDocument/2006/relationships/notesSlide" Target="/ppt/notesSlides/notesSlide19.xml" Id="Rff1dd8160cfc4e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3a6eb32dd4101" /><Relationship Type="http://schemas.openxmlformats.org/officeDocument/2006/relationships/notesSlide" Target="/ppt/notesSlides/notesSlide20.xml" Id="Rda1b9090b16b49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a8d11aef2423e" /><Relationship Type="http://schemas.openxmlformats.org/officeDocument/2006/relationships/notesSlide" Target="/ppt/notesSlides/notesSlide21.xml" Id="R7bd722da9e6840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ad1b4b9384fe4" /><Relationship Type="http://schemas.openxmlformats.org/officeDocument/2006/relationships/notesSlide" Target="/ppt/notesSlides/notesSlide22.xml" Id="Rdb5caac1e6734d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f0b0d7bd4985" /><Relationship Type="http://schemas.openxmlformats.org/officeDocument/2006/relationships/notesSlide" Target="/ppt/notesSlides/notesSlide23.xml" Id="Rd90eec8f598747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CBD5-AE14-4954-B1E7-FDBA541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6AAD-AC3B-4C69-B747-8671CD9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PixOffice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2D6F-32C5-4FD4-B570-939B6A1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29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功能、架构</a:t>
            </a:r>
          </a:p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与协作设计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2BAC3-B2C7-4F86-B243-75B813E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把变化限制在局部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0B29-8AAF-4D0C-A415-D387541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目标架构与分工方案  /  2026.09.30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28d351f8c4f5d"/>
          <a:stretch xmlns:a="http://schemas.openxmlformats.org/drawingml/2006/main"/>
        </p:blipFill>
        <p:spPr>
          <a:xfrm xmlns:a="http://schemas.openxmlformats.org/drawingml/2006/main">
            <a:off x="6518910" y="2255044"/>
            <a:ext cx="4869181" cy="3043238"/>
          </a:xfrm>
          <a:prstGeom xmlns:a="http://schemas.openxmlformats.org/drawingml/2006/main" prst="rect">
            <a:avLst/>
          </a:prstGeom>
        </p:spPr>
      </p:pic>
      <p:sp>
        <p:nvSpPr>
          <p:cNvPr id="9" name="PixOffice website">
            <a:extLst xmlns:a="http://schemas.openxmlformats.org/drawingml/2006/main">
              <a:ext uri="{FF2B5EF4-FFF2-40B4-BE49-F238E27FC236}">
                <a16:creationId xmlns:a16="http://schemas.microsoft.com/office/drawing/2014/main" id="{06145B28-4CBD-414E-9888-FF0AC82A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dd1c3eb7cd1481f"/>
              </a:rPr>
              <a:t>pixoffice.online</a:t>
            </a:r>
          </a:p>
        </p:txBody>
      </p:sp>
    </p:spTree>
    <p:extLst>
      <p:ext uri="{BB962C8B-B14F-4D97-AF65-F5344CB8AC3E}">
        <p14:creationId xmlns:p14="http://schemas.microsoft.com/office/powerpoint/2010/main" val="114177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4-text-1">
            <a:extLst xmlns:a="http://schemas.openxmlformats.org/drawingml/2006/main">
              <a:ext uri="{FF2B5EF4-FFF2-40B4-BE49-F238E27FC236}">
                <a16:creationId xmlns:a16="http://schemas.microsoft.com/office/drawing/2014/main" id="{8869672F-8EBB-4E26-81F6-CCEECB4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项目定位与系统边界</a:t>
            </a:r>
          </a:p>
        </p:txBody>
      </p:sp>
      <p:sp>
        <p:nvSpPr>
          <p:cNvPr id="2" name="v4-text-2">
            <a:extLst xmlns:a="http://schemas.openxmlformats.org/drawingml/2006/main">
              <a:ext uri="{FF2B5EF4-FFF2-40B4-BE49-F238E27FC236}">
                <a16:creationId xmlns:a16="http://schemas.microsoft.com/office/drawing/2014/main" id="{4FDB60F4-1BBF-4693-A048-B6A0B43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PixOffice：可由外部系统驱动的二维人物与场景交互前端</a:t>
            </a:r>
          </a:p>
        </p:txBody>
      </p:sp>
      <p:sp>
        <p:nvSpPr>
          <p:cNvPr id="3" name="v4-text-3">
            <a:extLst xmlns:a="http://schemas.openxmlformats.org/drawingml/2006/main">
              <a:ext uri="{FF2B5EF4-FFF2-40B4-BE49-F238E27FC236}">
                <a16:creationId xmlns:a16="http://schemas.microsoft.com/office/drawing/2014/main" id="{01EF3219-73B9-4E4B-9AD9-67C8854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v4-text-4">
            <a:extLst xmlns:a="http://schemas.openxmlformats.org/drawingml/2006/main">
              <a:ext uri="{FF2B5EF4-FFF2-40B4-BE49-F238E27FC236}">
                <a16:creationId xmlns:a16="http://schemas.microsoft.com/office/drawing/2014/main" id="{606AC014-95F3-4086-843F-0630B7A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用户看到的产品</a:t>
            </a:r>
          </a:p>
        </p:txBody>
      </p:sp>
      <p:sp>
        <p:nvSpPr>
          <p:cNvPr id="5" name="v4-text-5">
            <a:extLst xmlns:a="http://schemas.openxmlformats.org/drawingml/2006/main">
              <a:ext uri="{FF2B5EF4-FFF2-40B4-BE49-F238E27FC236}">
                <a16:creationId xmlns:a16="http://schemas.microsoft.com/office/drawing/2014/main" id="{42A9FD65-9364-43ED-9961-7E9F5EF3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334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人物在办公室内走动、交流和工作。</a:t>
            </a:r>
          </a:p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页面同步展示员工、任务与业务指标。</a:t>
            </a:r>
          </a:p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用户和 AI 可以编辑布局、驱动场景。</a:t>
            </a:r>
          </a:p>
        </p:txBody>
      </p:sp>
      <p:sp>
        <p:nvSpPr>
          <p:cNvPr id="6" name="v4-text-6">
            <a:extLst xmlns:a="http://schemas.openxmlformats.org/drawingml/2006/main">
              <a:ext uri="{FF2B5EF4-FFF2-40B4-BE49-F238E27FC236}">
                <a16:creationId xmlns:a16="http://schemas.microsoft.com/office/drawing/2014/main" id="{62977BE0-2BCA-4301-A16A-196B500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系统承担的责任</a:t>
            </a:r>
          </a:p>
        </p:txBody>
      </p:sp>
      <p:sp>
        <p:nvSpPr>
          <p:cNvPr id="7" name="v4-text-7">
            <a:extLst xmlns:a="http://schemas.openxmlformats.org/drawingml/2006/main">
              <a:ext uri="{FF2B5EF4-FFF2-40B4-BE49-F238E27FC236}">
                <a16:creationId xmlns:a16="http://schemas.microsoft.com/office/drawing/2014/main" id="{53DB7528-B0A7-4393-80E4-C20806E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067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可靠执行移动、占用与交互规则。</a:t>
            </a:r>
          </a:p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把外部任务状态映射成可理解的画面。</a:t>
            </a:r>
          </a:p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允许替换人物、家具、行为及宿主。</a:t>
            </a:r>
          </a:p>
        </p:txBody>
      </p:sp>
      <p:sp>
        <p:nvSpPr>
          <p:cNvPr id="8" name="v4-text-8">
            <a:extLst xmlns:a="http://schemas.openxmlformats.org/drawingml/2006/main">
              <a:ext uri="{FF2B5EF4-FFF2-40B4-BE49-F238E27FC236}">
                <a16:creationId xmlns:a16="http://schemas.microsoft.com/office/drawing/2014/main" id="{16B8D98B-8EEF-4263-AFC1-5D227D8F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业务任务、Agent 推理、数据采集及真实文件产出由外部业务系统负责。</a:t>
            </a:r>
          </a:p>
        </p:txBody>
      </p:sp>
      <p:sp>
        <p:nvSpPr>
          <p:cNvPr id="9" name="v4-text-9">
            <a:extLst xmlns:a="http://schemas.openxmlformats.org/drawingml/2006/main">
              <a:ext uri="{FF2B5EF4-FFF2-40B4-BE49-F238E27FC236}">
                <a16:creationId xmlns:a16="http://schemas.microsoft.com/office/drawing/2014/main" id="{097E80A6-69B0-4467-97DB-76BE81C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场景回报自身活动结果；业务系统决定任务是否完成。</a:t>
            </a:r>
          </a:p>
        </p:txBody>
      </p:sp>
    </p:spTree>
    <p:extLst>
      <p:ext uri="{BB962C8B-B14F-4D97-AF65-F5344CB8AC3E}">
        <p14:creationId xmlns:p14="http://schemas.microsoft.com/office/powerpoint/2010/main" val="866472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10">
            <a:extLst xmlns:a="http://schemas.openxmlformats.org/drawingml/2006/main">
              <a:ext uri="{FF2B5EF4-FFF2-40B4-BE49-F238E27FC236}">
                <a16:creationId xmlns:a16="http://schemas.microsoft.com/office/drawing/2014/main" id="{01AD06FB-0EF1-40FF-BF33-5FB1509B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项目功能全景</a:t>
            </a:r>
          </a:p>
        </p:txBody>
      </p:sp>
      <p:sp>
        <p:nvSpPr>
          <p:cNvPr id="2" name="v4-text-11">
            <a:extLst xmlns:a="http://schemas.openxmlformats.org/drawingml/2006/main">
              <a:ext uri="{FF2B5EF4-FFF2-40B4-BE49-F238E27FC236}">
                <a16:creationId xmlns:a16="http://schemas.microsoft.com/office/drawing/2014/main" id="{1001F107-377F-4A03-B729-B3B2C3F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现有能力按当前仓库说明整理；新增场景和发布生态属于目标扩展</a:t>
            </a:r>
          </a:p>
        </p:txBody>
      </p:sp>
      <p:sp>
        <p:nvSpPr>
          <p:cNvPr id="3" name="v4-text-12">
            <a:extLst xmlns:a="http://schemas.openxmlformats.org/drawingml/2006/main">
              <a:ext uri="{FF2B5EF4-FFF2-40B4-BE49-F238E27FC236}">
                <a16:creationId xmlns:a16="http://schemas.microsoft.com/office/drawing/2014/main" id="{D1C2627E-78E2-491F-A727-A05714D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5086350"/>
                <a:gridCol w="39052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功能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用户可以做什么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实现边界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业务看板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查看指标、员工状态和当前任务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应用层与业务数据源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人物与动作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走动、入座、工作、发言和表情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角色资源与渲染器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多人交互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工位拜访、多人会议、持续专注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行为插件与运行时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家具与布局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拖放家具、绑定工位、撤销与重做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编辑模块与空间规则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外部驱动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提交命令，查询能力、状态与结果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协议与通信适配器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扩展与制作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管理内置插件，制作和验收角色包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内容包与制作工具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13">
            <a:extLst xmlns:a="http://schemas.openxmlformats.org/drawingml/2006/main">
              <a:ext uri="{FF2B5EF4-FFF2-40B4-BE49-F238E27FC236}">
                <a16:creationId xmlns:a16="http://schemas.microsoft.com/office/drawing/2014/main" id="{FB4974F3-8991-4F37-9C47-143A551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未接入真实业务服务时，示例数据和演示动作必须明确标识。</a:t>
            </a:r>
          </a:p>
        </p:txBody>
      </p:sp>
    </p:spTree>
    <p:extLst>
      <p:ext uri="{BB962C8B-B14F-4D97-AF65-F5344CB8AC3E}">
        <p14:creationId xmlns:p14="http://schemas.microsoft.com/office/powerpoint/2010/main" val="1675747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4-text-14">
            <a:extLst xmlns:a="http://schemas.openxmlformats.org/drawingml/2006/main">
              <a:ext uri="{FF2B5EF4-FFF2-40B4-BE49-F238E27FC236}">
                <a16:creationId xmlns:a16="http://schemas.microsoft.com/office/drawing/2014/main" id="{AFB071B5-D459-4BEA-A0A9-7C56B13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一次任务在系统中如何流转</a:t>
            </a:r>
          </a:p>
        </p:txBody>
      </p:sp>
      <p:sp>
        <p:nvSpPr>
          <p:cNvPr id="2" name="v4-text-15">
            <a:extLst xmlns:a="http://schemas.openxmlformats.org/drawingml/2006/main">
              <a:ext uri="{FF2B5EF4-FFF2-40B4-BE49-F238E27FC236}">
                <a16:creationId xmlns:a16="http://schemas.microsoft.com/office/drawing/2014/main" id="{DA22EC3C-7C2D-450D-9075-F83320A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示例：外部系统派发资料整理任务，并让负责人走到员工旁交代</a:t>
            </a:r>
          </a:p>
        </p:txBody>
      </p:sp>
      <p:sp>
        <p:nvSpPr>
          <p:cNvPr id="3" name="v4-text-16">
            <a:extLst xmlns:a="http://schemas.openxmlformats.org/drawingml/2006/main">
              <a:ext uri="{FF2B5EF4-FFF2-40B4-BE49-F238E27FC236}">
                <a16:creationId xmlns:a16="http://schemas.microsoft.com/office/drawing/2014/main" id="{23B83CCC-D63C-4AE4-B177-5211E5AE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v4-diagram-17">
            <a:extLst xmlns:a="http://schemas.openxmlformats.org/drawingml/2006/main">
              <a:ext uri="{FF2B5EF4-FFF2-40B4-BE49-F238E27FC236}">
                <a16:creationId xmlns:a16="http://schemas.microsoft.com/office/drawing/2014/main" id="{B30EFE30-BF2C-4D25-AE89-8F4A1A0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外部派单</a:t>
            </a:r>
          </a:p>
        </p:txBody>
      </p:sp>
      <p:sp>
        <p:nvSpPr>
          <p:cNvPr id="5" name="v4-diagram-18">
            <a:extLst xmlns:a="http://schemas.openxmlformats.org/drawingml/2006/main">
              <a:ext uri="{FF2B5EF4-FFF2-40B4-BE49-F238E27FC236}">
                <a16:creationId xmlns:a16="http://schemas.microsoft.com/office/drawing/2014/main" id="{BD7FA8ED-2578-4CE2-94CD-B386394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场景交代</a:t>
            </a:r>
          </a:p>
        </p:txBody>
      </p:sp>
      <p:sp>
        <p:nvSpPr>
          <p:cNvPr id="6" name="v4-diagram-19">
            <a:extLst xmlns:a="http://schemas.openxmlformats.org/drawingml/2006/main">
              <a:ext uri="{FF2B5EF4-FFF2-40B4-BE49-F238E27FC236}">
                <a16:creationId xmlns:a16="http://schemas.microsoft.com/office/drawing/2014/main" id="{27E28E63-2EEF-47E2-8606-06F8AB8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业务执行</a:t>
            </a:r>
          </a:p>
        </p:txBody>
      </p:sp>
      <p:sp>
        <p:nvSpPr>
          <p:cNvPr id="7" name="v4-diagram-20">
            <a:extLst xmlns:a="http://schemas.openxmlformats.org/drawingml/2006/main">
              <a:ext uri="{FF2B5EF4-FFF2-40B4-BE49-F238E27FC236}">
                <a16:creationId xmlns:a16="http://schemas.microsoft.com/office/drawing/2014/main" id="{09DFF64D-4904-49E5-944B-435A11A4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同步状态</a:t>
            </a:r>
          </a:p>
        </p:txBody>
      </p:sp>
      <p:sp>
        <p:nvSpPr>
          <p:cNvPr id="8" name="v4-diagram-21">
            <a:extLst xmlns:a="http://schemas.openxmlformats.org/drawingml/2006/main">
              <a:ext uri="{FF2B5EF4-FFF2-40B4-BE49-F238E27FC236}">
                <a16:creationId xmlns:a16="http://schemas.microsoft.com/office/drawing/2014/main" id="{C29F1A10-A749-4862-BE70-C4885DE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交付结果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28900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67275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05650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44025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3" name="v4-text-22">
            <a:extLst xmlns:a="http://schemas.openxmlformats.org/drawingml/2006/main">
              <a:ext uri="{FF2B5EF4-FFF2-40B4-BE49-F238E27FC236}">
                <a16:creationId xmlns:a16="http://schemas.microsoft.com/office/drawing/2014/main" id="{DE5C427F-9EDA-4128-906F-8ABDC5D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创建真实任务</a:t>
            </a:r>
          </a:p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选择参与员工</a:t>
            </a:r>
          </a:p>
        </p:txBody>
      </p:sp>
      <p:sp>
        <p:nvSpPr>
          <p:cNvPr id="14" name="v4-text-23">
            <a:extLst xmlns:a="http://schemas.openxmlformats.org/drawingml/2006/main">
              <a:ext uri="{FF2B5EF4-FFF2-40B4-BE49-F238E27FC236}">
                <a16:creationId xmlns:a16="http://schemas.microsoft.com/office/drawing/2014/main" id="{639CD1D0-3368-4597-81BB-F1252A1D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预约与寻路</a:t>
            </a:r>
          </a:p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到位后交流</a:t>
            </a:r>
          </a:p>
        </p:txBody>
      </p:sp>
      <p:sp>
        <p:nvSpPr>
          <p:cNvPr id="15" name="v4-text-24">
            <a:extLst xmlns:a="http://schemas.openxmlformats.org/drawingml/2006/main">
              <a:ext uri="{FF2B5EF4-FFF2-40B4-BE49-F238E27FC236}">
                <a16:creationId xmlns:a16="http://schemas.microsoft.com/office/drawing/2014/main" id="{AD0EA69A-A5FB-42B0-BA2D-2CE7FA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Agent 或程序</a:t>
            </a:r>
          </a:p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执行真实工作</a:t>
            </a:r>
          </a:p>
        </p:txBody>
      </p:sp>
      <p:sp>
        <p:nvSpPr>
          <p:cNvPr id="16" name="v4-text-25">
            <a:extLst xmlns:a="http://schemas.openxmlformats.org/drawingml/2006/main">
              <a:ext uri="{FF2B5EF4-FFF2-40B4-BE49-F238E27FC236}">
                <a16:creationId xmlns:a16="http://schemas.microsoft.com/office/drawing/2014/main" id="{9B06DBD6-EE60-4469-9197-243934A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更新任务与员工</a:t>
            </a:r>
          </a:p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播放工作状态</a:t>
            </a:r>
          </a:p>
        </p:txBody>
      </p:sp>
      <p:sp>
        <p:nvSpPr>
          <p:cNvPr id="17" name="v4-text-26">
            <a:extLst xmlns:a="http://schemas.openxmlformats.org/drawingml/2006/main">
              <a:ext uri="{FF2B5EF4-FFF2-40B4-BE49-F238E27FC236}">
                <a16:creationId xmlns:a16="http://schemas.microsoft.com/office/drawing/2014/main" id="{421E5091-05BA-4510-9435-AFCA617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业务确认完成</a:t>
            </a:r>
          </a:p>
          <a:p xmlns:a="http://schemas.openxmlformats.org/drawingml/2006/main">
            <a:pPr algn="ctr"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应用展示产出</a:t>
            </a:r>
          </a:p>
        </p:txBody>
      </p:sp>
      <p:sp>
        <p:nvSpPr>
          <p:cNvPr id="18" name="v4-text-27">
            <a:extLst xmlns:a="http://schemas.openxmlformats.org/drawingml/2006/main">
              <a:ext uri="{FF2B5EF4-FFF2-40B4-BE49-F238E27FC236}">
                <a16:creationId xmlns:a16="http://schemas.microsoft.com/office/drawing/2014/main" id="{BD7A0F1A-DD80-49A7-BD68-FCC627E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外部系统</a:t>
            </a:r>
          </a:p>
        </p:txBody>
      </p:sp>
      <p:sp>
        <p:nvSpPr>
          <p:cNvPr id="19" name="v4-text-28">
            <a:extLst xmlns:a="http://schemas.openxmlformats.org/drawingml/2006/main">
              <a:ext uri="{FF2B5EF4-FFF2-40B4-BE49-F238E27FC236}">
                <a16:creationId xmlns:a16="http://schemas.microsoft.com/office/drawing/2014/main" id="{B434FD65-47D6-4CD9-A8C1-2AF5A69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2915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掌握任务进度与结果；决定何时派发场景活动。</a:t>
            </a:r>
          </a:p>
        </p:txBody>
      </p:sp>
      <p:sp>
        <p:nvSpPr>
          <p:cNvPr id="20" name="v4-text-29">
            <a:extLst xmlns:a="http://schemas.openxmlformats.org/drawingml/2006/main">
              <a:ext uri="{FF2B5EF4-FFF2-40B4-BE49-F238E27FC236}">
                <a16:creationId xmlns:a16="http://schemas.microsoft.com/office/drawing/2014/main" id="{6B28B110-0256-4A58-9F5D-EBA1316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场景运行时</a:t>
            </a:r>
          </a:p>
        </p:txBody>
      </p:sp>
      <p:sp>
        <p:nvSpPr>
          <p:cNvPr id="21" name="v4-text-30">
            <a:extLst xmlns:a="http://schemas.openxmlformats.org/drawingml/2006/main">
              <a:ext uri="{FF2B5EF4-FFF2-40B4-BE49-F238E27FC236}">
                <a16:creationId xmlns:a16="http://schemas.microsoft.com/office/drawing/2014/main" id="{EEC78AA9-ECC6-4A99-9B4F-6F22F32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掌握人物位置与活动；回报成功、失败或取消。</a:t>
            </a:r>
          </a:p>
        </p:txBody>
      </p:sp>
      <p:sp>
        <p:nvSpPr>
          <p:cNvPr id="22" name="v4-text-31">
            <a:extLst xmlns:a="http://schemas.openxmlformats.org/drawingml/2006/main">
              <a:ext uri="{FF2B5EF4-FFF2-40B4-BE49-F238E27FC236}">
                <a16:creationId xmlns:a16="http://schemas.microsoft.com/office/drawing/2014/main" id="{FBE58504-6DA8-4A5A-9D31-36863AAC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交谈动画结束，不等于员工接受了真实业务任务。</a:t>
            </a:r>
          </a:p>
        </p:txBody>
      </p:sp>
    </p:spTree>
    <p:extLst>
      <p:ext uri="{BB962C8B-B14F-4D97-AF65-F5344CB8AC3E}">
        <p14:creationId xmlns:p14="http://schemas.microsoft.com/office/powerpoint/2010/main" val="1152746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v4-text-32">
            <a:extLst xmlns:a="http://schemas.openxmlformats.org/drawingml/2006/main">
              <a:ext uri="{FF2B5EF4-FFF2-40B4-BE49-F238E27FC236}">
                <a16:creationId xmlns:a16="http://schemas.microsoft.com/office/drawing/2014/main" id="{D3EB96A1-867E-46A9-A459-BFEB670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架构原则：变化有明确归属</a:t>
            </a:r>
          </a:p>
        </p:txBody>
      </p:sp>
      <p:sp>
        <p:nvSpPr>
          <p:cNvPr id="2" name="v4-text-33">
            <a:extLst xmlns:a="http://schemas.openxmlformats.org/drawingml/2006/main">
              <a:ext uri="{FF2B5EF4-FFF2-40B4-BE49-F238E27FC236}">
                <a16:creationId xmlns:a16="http://schemas.microsoft.com/office/drawing/2014/main" id="{A8BD6D68-7802-452D-85C8-7EA2902D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高频变化发生在边缘，跨场景稳定的规则留在中心</a:t>
            </a:r>
          </a:p>
        </p:txBody>
      </p:sp>
      <p:sp>
        <p:nvSpPr>
          <p:cNvPr id="3" name="v4-text-34">
            <a:extLst xmlns:a="http://schemas.openxmlformats.org/drawingml/2006/main">
              <a:ext uri="{FF2B5EF4-FFF2-40B4-BE49-F238E27FC236}">
                <a16:creationId xmlns:a16="http://schemas.microsoft.com/office/drawing/2014/main" id="{6B758666-05AA-4556-AAE4-6AF9565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v4-diagram-35">
            <a:extLst xmlns:a="http://schemas.openxmlformats.org/drawingml/2006/main">
              <a:ext uri="{FF2B5EF4-FFF2-40B4-BE49-F238E27FC236}">
                <a16:creationId xmlns:a16="http://schemas.microsoft.com/office/drawing/2014/main" id="{B313CF8D-6EC9-4FF7-83D2-F63F767E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14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人物、家具、界面、业务与动作素材</a:t>
            </a:r>
          </a:p>
        </p:txBody>
      </p:sp>
      <p:sp>
        <p:nvSpPr>
          <p:cNvPr id="5" name="v4-diagram-36">
            <a:extLst xmlns:a="http://schemas.openxmlformats.org/drawingml/2006/main">
              <a:ext uri="{FF2B5EF4-FFF2-40B4-BE49-F238E27FC236}">
                <a16:creationId xmlns:a16="http://schemas.microsoft.com/office/drawing/2014/main" id="{4CEBD74F-96EC-4C63-8E6E-C6E72F8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命令、状态、能力与扩展接口</a:t>
            </a:r>
          </a:p>
        </p:txBody>
      </p:sp>
      <p:sp>
        <p:nvSpPr>
          <p:cNvPr id="6" name="v4-diagram-37">
            <a:extLst xmlns:a="http://schemas.openxmlformats.org/drawingml/2006/main">
              <a:ext uri="{FF2B5EF4-FFF2-40B4-BE49-F238E27FC236}">
                <a16:creationId xmlns:a16="http://schemas.microsoft.com/office/drawing/2014/main" id="{B15C2D4D-045E-4CB5-BA78-5AE9162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9625"/>
            <a:ext cx="4667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5"/>
          </a:solidFill>
          <a:ln xmlns:a="http://schemas.openxmlformats.org/drawingml/2006/main" w="9525">
            <a:solidFill>
              <a:srgbClr val="386B55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状态一致性、生命周期、资源约束</a:t>
            </a:r>
          </a:p>
        </p:txBody>
      </p:sp>
      <p:cxnSp>
        <p:nvCxnSpPr>
          <p:cNvPr id="30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181475" y="27336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181475" y="4076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9" name="v4-text-38">
            <a:extLst xmlns:a="http://schemas.openxmlformats.org/drawingml/2006/main">
              <a:ext uri="{FF2B5EF4-FFF2-40B4-BE49-F238E27FC236}">
                <a16:creationId xmlns:a16="http://schemas.microsoft.com/office/drawing/2014/main" id="{8B93E281-C2EA-4BDC-92A5-8ACD0F7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边缘可替换</a:t>
            </a:r>
          </a:p>
        </p:txBody>
      </p:sp>
      <p:sp>
        <p:nvSpPr>
          <p:cNvPr id="10" name="v4-text-39">
            <a:extLst xmlns:a="http://schemas.openxmlformats.org/drawingml/2006/main">
              <a:ext uri="{FF2B5EF4-FFF2-40B4-BE49-F238E27FC236}">
                <a16:creationId xmlns:a16="http://schemas.microsoft.com/office/drawing/2014/main" id="{D32E2568-D0EE-43BB-8A95-C28B1E2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容纳不同变化原因</a:t>
            </a:r>
          </a:p>
        </p:txBody>
      </p:sp>
      <p:sp>
        <p:nvSpPr>
          <p:cNvPr id="11" name="v4-text-40">
            <a:extLst xmlns:a="http://schemas.openxmlformats.org/drawingml/2006/main">
              <a:ext uri="{FF2B5EF4-FFF2-40B4-BE49-F238E27FC236}">
                <a16:creationId xmlns:a16="http://schemas.microsoft.com/office/drawing/2014/main" id="{D75838BD-FCDB-4938-BE53-6FD42159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契约稳定语义</a:t>
            </a:r>
          </a:p>
        </p:txBody>
      </p:sp>
      <p:sp>
        <p:nvSpPr>
          <p:cNvPr id="12" name="v4-text-41">
            <a:extLst xmlns:a="http://schemas.openxmlformats.org/drawingml/2006/main">
              <a:ext uri="{FF2B5EF4-FFF2-40B4-BE49-F238E27FC236}">
                <a16:creationId xmlns:a16="http://schemas.microsoft.com/office/drawing/2014/main" id="{9F585F66-AF0C-4591-B823-EA319D4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不固定实现细节</a:t>
            </a:r>
          </a:p>
        </p:txBody>
      </p:sp>
      <p:sp>
        <p:nvSpPr>
          <p:cNvPr id="13" name="v4-text-42">
            <a:extLst xmlns:a="http://schemas.openxmlformats.org/drawingml/2006/main">
              <a:ext uri="{FF2B5EF4-FFF2-40B4-BE49-F238E27FC236}">
                <a16:creationId xmlns:a16="http://schemas.microsoft.com/office/drawing/2014/main" id="{08B7BC6B-BC93-4076-868D-A6B9571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中心维护规则</a:t>
            </a:r>
          </a:p>
        </p:txBody>
      </p:sp>
      <p:sp>
        <p:nvSpPr>
          <p:cNvPr id="14" name="v4-text-43">
            <a:extLst xmlns:a="http://schemas.openxmlformats.org/drawingml/2006/main">
              <a:ext uri="{FF2B5EF4-FFF2-40B4-BE49-F238E27FC236}">
                <a16:creationId xmlns:a16="http://schemas.microsoft.com/office/drawing/2014/main" id="{4846AE15-983D-4ED6-8EFC-1C2DBAD7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必要时受控演进</a:t>
            </a:r>
          </a:p>
        </p:txBody>
      </p:sp>
      <p:sp>
        <p:nvSpPr>
          <p:cNvPr id="15" name="v4-text-44">
            <a:extLst xmlns:a="http://schemas.openxmlformats.org/drawingml/2006/main">
              <a:ext uri="{FF2B5EF4-FFF2-40B4-BE49-F238E27FC236}">
                <a16:creationId xmlns:a16="http://schemas.microsoft.com/office/drawing/2014/main" id="{1507DFA1-8FFB-430A-87A3-D3D8DDD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评价一次改动：是否只修改了与这个变化原因有关的模块？</a:t>
            </a:r>
          </a:p>
        </p:txBody>
      </p:sp>
    </p:spTree>
    <p:extLst>
      <p:ext uri="{BB962C8B-B14F-4D97-AF65-F5344CB8AC3E}">
        <p14:creationId xmlns:p14="http://schemas.microsoft.com/office/powerpoint/2010/main" val="1284735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4-text-45">
            <a:extLst xmlns:a="http://schemas.openxmlformats.org/drawingml/2006/main">
              <a:ext uri="{FF2B5EF4-FFF2-40B4-BE49-F238E27FC236}">
                <a16:creationId xmlns:a16="http://schemas.microsoft.com/office/drawing/2014/main" id="{57E45B57-EFF5-4ABC-8747-8BF5FD4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系统架构总览</a:t>
            </a:r>
          </a:p>
        </p:txBody>
      </p:sp>
      <p:sp>
        <p:nvSpPr>
          <p:cNvPr id="2" name="v4-text-46">
            <a:extLst xmlns:a="http://schemas.openxmlformats.org/drawingml/2006/main">
              <a:ext uri="{FF2B5EF4-FFF2-40B4-BE49-F238E27FC236}">
                <a16:creationId xmlns:a16="http://schemas.microsoft.com/office/drawing/2014/main" id="{5783335E-32C6-4CC1-A0EA-752AA60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场景命令进入运行时，状态与事件驱动画面；制作系统独立发布内容</a:t>
            </a:r>
          </a:p>
        </p:txBody>
      </p:sp>
      <p:sp>
        <p:nvSpPr>
          <p:cNvPr id="3" name="v4-text-47">
            <a:extLst xmlns:a="http://schemas.openxmlformats.org/drawingml/2006/main">
              <a:ext uri="{FF2B5EF4-FFF2-40B4-BE49-F238E27FC236}">
                <a16:creationId xmlns:a16="http://schemas.microsoft.com/office/drawing/2014/main" id="{CC6E557A-4E3D-49C5-B822-F59D132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v4-diagram-48">
            <a:extLst xmlns:a="http://schemas.openxmlformats.org/drawingml/2006/main">
              <a:ext uri="{FF2B5EF4-FFF2-40B4-BE49-F238E27FC236}">
                <a16:creationId xmlns:a16="http://schemas.microsoft.com/office/drawing/2014/main" id="{8251270E-DFF6-4ED0-8771-087B09D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715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外部业务 / Agent / 用户界面</a:t>
            </a:r>
          </a:p>
        </p:txBody>
      </p:sp>
      <p:sp>
        <p:nvSpPr>
          <p:cNvPr id="5" name="v4-diagram-49">
            <a:extLst xmlns:a="http://schemas.openxmlformats.org/drawingml/2006/main">
              <a:ext uri="{FF2B5EF4-FFF2-40B4-BE49-F238E27FC236}">
                <a16:creationId xmlns:a16="http://schemas.microsoft.com/office/drawing/2014/main" id="{D3EC89FC-6BBA-44C5-BD8C-F0294DD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715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场景接入适配与公共协议</a:t>
            </a:r>
          </a:p>
        </p:txBody>
      </p:sp>
      <p:sp>
        <p:nvSpPr>
          <p:cNvPr id="6" name="v4-diagram-50">
            <a:extLst xmlns:a="http://schemas.openxmlformats.org/drawingml/2006/main">
              <a:ext uri="{FF2B5EF4-FFF2-40B4-BE49-F238E27FC236}">
                <a16:creationId xmlns:a16="http://schemas.microsoft.com/office/drawing/2014/main" id="{63CA6470-B0E9-4CAA-B803-4FC03A9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715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5"/>
          </a:solidFill>
          <a:ln xmlns:a="http://schemas.openxmlformats.org/drawingml/2006/main" w="9525">
            <a:solidFill>
              <a:srgbClr val="386B55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场景运行时</a:t>
            </a:r>
          </a:p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状态、调度、占用、移动和交互校验</a:t>
            </a:r>
          </a:p>
        </p:txBody>
      </p:sp>
      <p:sp>
        <p:nvSpPr>
          <p:cNvPr id="7" name="v4-diagram-51">
            <a:extLst xmlns:a="http://schemas.openxmlformats.org/drawingml/2006/main">
              <a:ext uri="{FF2B5EF4-FFF2-40B4-BE49-F238E27FC236}">
                <a16:creationId xmlns:a16="http://schemas.microsoft.com/office/drawing/2014/main" id="{8E0B89BB-27B9-4DFB-A1FF-FC5749F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71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只读场景状态与事件</a:t>
            </a:r>
          </a:p>
          <a:p xmlns:a="http://schemas.openxmlformats.org/drawingml/2006/main">
            <a:pPr algn="ctr">
              <a:buNone/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Pixi 场景、人物动画与交互</a:t>
            </a:r>
          </a:p>
        </p:txBody>
      </p:sp>
      <p:cxnSp>
        <p:nvCxnSpPr>
          <p:cNvPr id="41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967163" y="2286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967163" y="33623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67163" y="46386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1" name="v4-diagram-52">
            <a:extLst xmlns:a="http://schemas.openxmlformats.org/drawingml/2006/main">
              <a:ext uri="{FF2B5EF4-FFF2-40B4-BE49-F238E27FC236}">
                <a16:creationId xmlns:a16="http://schemas.microsoft.com/office/drawing/2014/main" id="{5D21487D-A731-4B95-9E8D-CEAD3C6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3147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制作工具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编辑、审计、预览与验收</a:t>
            </a:r>
          </a:p>
        </p:txBody>
      </p:sp>
      <p:sp>
        <p:nvSpPr>
          <p:cNvPr id="12" name="v4-diagram-53">
            <a:extLst xmlns:a="http://schemas.openxmlformats.org/drawingml/2006/main">
              <a:ext uri="{FF2B5EF4-FFF2-40B4-BE49-F238E27FC236}">
                <a16:creationId xmlns:a16="http://schemas.microsoft.com/office/drawing/2014/main" id="{DAA00DCA-025F-4E73-804D-EB32C05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331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发布的内容包</a:t>
            </a:r>
          </a:p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定义、行为与视觉资源</a:t>
            </a:r>
          </a:p>
        </p:txBody>
      </p:sp>
      <p:cxnSp>
        <p:nvCxnSpPr>
          <p:cNvPr id="4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925050" y="2466975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4" name="v4-text-54">
            <a:extLst xmlns:a="http://schemas.openxmlformats.org/drawingml/2006/main">
              <a:ext uri="{FF2B5EF4-FFF2-40B4-BE49-F238E27FC236}">
                <a16:creationId xmlns:a16="http://schemas.microsoft.com/office/drawing/2014/main" id="{55DE12C3-B56C-465D-A970-CC91862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86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版本化发布</a:t>
            </a:r>
          </a:p>
        </p:txBody>
      </p:sp>
      <p:cxnSp>
        <p:nvCxnSpPr>
          <p:cNvPr id="48" name=""/>
          <p:cNvCxnSpPr>
            <a:stCxn xmlns:a="http://schemas.openxmlformats.org/drawingml/2006/main" id="1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324725" y="4224338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6" name="v4-text-55">
            <a:extLst xmlns:a="http://schemas.openxmlformats.org/drawingml/2006/main">
              <a:ext uri="{FF2B5EF4-FFF2-40B4-BE49-F238E27FC236}">
                <a16:creationId xmlns:a16="http://schemas.microsoft.com/office/drawing/2014/main" id="{39C8D5F9-F994-4F74-BE7C-B1A01F4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7667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定义</a:t>
            </a:r>
          </a:p>
        </p:txBody>
      </p:sp>
      <p:sp>
        <p:nvSpPr>
          <p:cNvPr id="17" name="v4-text-56">
            <a:extLst xmlns:a="http://schemas.openxmlformats.org/drawingml/2006/main">
              <a:ext uri="{FF2B5EF4-FFF2-40B4-BE49-F238E27FC236}">
                <a16:creationId xmlns:a16="http://schemas.microsoft.com/office/drawing/2014/main" id="{5375ACFD-4E13-4796-B11A-283327C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33975"/>
            <a:ext cx="3314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渲染器按需加载视觉资源。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制作工具不进入逐帧循环。</a:t>
            </a:r>
          </a:p>
        </p:txBody>
      </p:sp>
      <p:sp>
        <p:nvSpPr>
          <p:cNvPr id="18" name="v4-text-57">
            <a:extLst xmlns:a="http://schemas.openxmlformats.org/drawingml/2006/main">
              <a:ext uri="{FF2B5EF4-FFF2-40B4-BE49-F238E27FC236}">
                <a16:creationId xmlns:a16="http://schemas.microsoft.com/office/drawing/2014/main" id="{F47AF145-24C7-4609-AB56-DBB76463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业务看板直接读取外部业务数据。</a:t>
            </a:r>
          </a:p>
        </p:txBody>
      </p:sp>
    </p:spTree>
    <p:extLst>
      <p:ext uri="{BB962C8B-B14F-4D97-AF65-F5344CB8AC3E}">
        <p14:creationId xmlns:p14="http://schemas.microsoft.com/office/powerpoint/2010/main" val="1753383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CB4A3-1B90-4F80-AC74-E319C13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功能与模块如何对应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936C-F529-4EC7-87B6-AC4DD50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71700"/>
                <a:gridCol w="4400550"/>
                <a:gridCol w="44005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产品功能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主要边界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业务看板与接入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应用、业务适配、协议入口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外部任务状态不混入动画状态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走动与家具使用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调度、空间、导航、资源预约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算法可替换，合法性统一校验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人物与办公画面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动画播放器、物品视图、资源加载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渲染读取状态，不反向控制业务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地图草稿、编辑事务、编辑界面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人与 AI 共用命令及校验规则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内容扩展与发布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内容注册、能力检查、制作工具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内容定义与制作流程独立演进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3422-DAEF-4EC6-90CF-AD1FF7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一个功能可以跨多个模块；每个模块只承担明确的一段职责。</a:t>
            </a:r>
          </a:p>
        </p:txBody>
      </p:sp>
    </p:spTree>
    <p:extLst>
      <p:ext uri="{BB962C8B-B14F-4D97-AF65-F5344CB8AC3E}">
        <p14:creationId xmlns:p14="http://schemas.microsoft.com/office/powerpoint/2010/main" val="2014723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15F2-C4EE-43A1-BE11-33EB8C7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稳定内核与可选模块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D6896-D0C4-4AEA-99C4-175C6CB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33675"/>
                <a:gridCol w="82391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必须统一的责任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契约与校验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命令身份、参数校验、能力匹配与错误语义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世界与实体状态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人物、物品、地图及唯一权威状态更新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调度与资源占用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排队、同步、取消、超时和可靠释放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空间与活动执行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路线合法、到位条件、姿态语义与阶段推进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共享草稿、撤销重做、布局校验与版本冲突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扩展注册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能力发现、依赖检查、兼容性与生命周期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0C72-FAD8-40A0-B698-AF4C9A4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地图编辑可选加载；图片帧播放和具体家具流程留在边缘。</a:t>
            </a:r>
          </a:p>
        </p:txBody>
      </p:sp>
    </p:spTree>
    <p:extLst>
      <p:ext uri="{BB962C8B-B14F-4D97-AF65-F5344CB8AC3E}">
        <p14:creationId xmlns:p14="http://schemas.microsoft.com/office/powerpoint/2010/main" val="548482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FBEAE-0D11-47BF-8BB1-8808761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三类扩展边界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CD04-C01C-4C74-B945-02C6A76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04538-47EA-4290-A421-0D201360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8906-4AF1-4005-B691-556E7EC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基础模块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537D-0D81-4BB2-A6B6-0754946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统一规则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EB63-6A7A-4D4C-A957-D7EA034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世界状态、调度、空间约束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以及稳定的扩展接口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0B5BE-561E-4887-88D8-1D4C282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由核心集中维护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443-680F-40C2-A461-0D0271A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C3DE0-6C4F-48DA-AD9A-0BB8CE0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E01D7-2231-4192-8CFA-EDFA83D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替换实现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D248E-A9F3-4B30-8F06-4A8C5DA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寻路、渲染、通信、存储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通过接口注入实现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3F92A-318A-4D59-94E4-4C43F0A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遵守同一输入输出约定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A4F6A-80B5-4897-AA34-5797809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A88E8-966D-4CAE-A6E9-532F59D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68482-1001-414B-8273-B5D7231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增加能力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CD2D-32FC-474E-A23A-BA59F4C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复杂行为和专用物品视图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通过注册机制接入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F9B8F-29F4-4FD0-8994-D8D5EE4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声明依赖与兼容版本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9DCF-5CAA-497D-B2A0-6D73D0F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普通内容优先用数据包；代码插件额外承担生命周期与兼容性。</a:t>
            </a:r>
          </a:p>
        </p:txBody>
      </p:sp>
    </p:spTree>
    <p:extLst>
      <p:ext uri="{BB962C8B-B14F-4D97-AF65-F5344CB8AC3E}">
        <p14:creationId xmlns:p14="http://schemas.microsoft.com/office/powerpoint/2010/main" val="2115976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7593-E75F-4555-9451-400FA46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可替换适配器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81A7-FAE1-4337-9446-465CF47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52675"/>
                <a:gridCol w="42862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适配器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可替换的实现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统一约束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Navigation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四方向 A*、其他网格寻路器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路径合法、避障和到位条件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Pixi；未来可替换的渲染后端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只读场景状态与表现语义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直接调用、HTTP、iframe、IPC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命令身份、校验、回执与结果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浏览器、文件、SQLite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存档结构、版本和迁移校验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Asset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本地目录、打包资源、远程资源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资源清单、版本与能力校验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9E2F0-5E54-465A-905A-4FF66CE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按需实现并由应用注入；表中的候选后端不代表当前全部支持。</a:t>
            </a:r>
          </a:p>
        </p:txBody>
      </p:sp>
    </p:spTree>
    <p:extLst>
      <p:ext uri="{BB962C8B-B14F-4D97-AF65-F5344CB8AC3E}">
        <p14:creationId xmlns:p14="http://schemas.microsoft.com/office/powerpoint/2010/main" val="483352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5254-D212-40F4-A8DC-ABB9FB6B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内容与行为插件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9F2B2-4A27-4471-B70D-7C3BF08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85975"/>
                <a:gridCol w="45529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插件类型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典型扩展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默认地图、模板组合、规则配置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办公室、公寓、工厂、医院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底部占地、交互位置、状态结构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工位、白板、饮水机、跑步机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参与者、前置条件、资源与执行阶段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拜访、讨论、取水、持续工作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贴图、动作、锚点、比例与能力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增加人物或补充动作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物品视图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状态到画面的映射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白板文字、电脑画面、指示灯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目录、属性面板、操作工具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新增家具属性与专用编辑工具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3261-EFAB-44C9-8F40-E2DCC03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人物和家具优先采用数据包；医院、工厂等为未来扩展示例。</a:t>
            </a:r>
          </a:p>
        </p:txBody>
      </p:sp>
    </p:spTree>
    <p:extLst>
      <p:ext uri="{BB962C8B-B14F-4D97-AF65-F5344CB8AC3E}">
        <p14:creationId xmlns:p14="http://schemas.microsoft.com/office/powerpoint/2010/main" val="1252053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1A277-9F81-447C-85CB-3E4920D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三类契约与内容版本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71A5-F4B0-4E5A-97C3-464E853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153025"/>
                <a:gridCol w="34861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契约对象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不满足时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对外协议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命令身份、参数、回执、事件与版本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拒绝、去重或报告冲突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参与者、资源、阶段、姿态与结束方式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拒绝、排队或取消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表现契约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动作能力、朝向、锚点、比例与接触点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报告缺失，不伪装支持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清单、资源指纹、兼容范围和验收记录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拒绝发布或恢复旧版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A2C4-A8F6-4171-9E15-E33C971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示例：接待人只支持左右转头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8AED-3A80-4AE6-BF2C-FEFD0A8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运行时只选择可达且兼容的交流位置，渲染器按约定展示正确姿态。</a:t>
            </a:r>
          </a:p>
        </p:txBody>
      </p:sp>
    </p:spTree>
    <p:extLst>
      <p:ext uri="{BB962C8B-B14F-4D97-AF65-F5344CB8AC3E}">
        <p14:creationId xmlns:p14="http://schemas.microsoft.com/office/powerpoint/2010/main" val="709457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C981-B8E8-40DE-BC47-99EFE48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四个主要代码包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A5D1-1C56-4F88-9CAE-7C22B8E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F6C2-0F4A-47BA-B899-FF97191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先建立单仓库边界，再按复用需求发布 npm 包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05225"/>
                <a:gridCol w="3895725"/>
                <a:gridCol w="33718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建议包名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内部依赖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公共协议、基础类型与扩展接口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无其他内部包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状态、活动、空间和资源约束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渲染、动画、资源与输入转换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@pixoffice/office-pack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办公室定义、行为与资源清单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logic 依赖 contracts</a:t>
                      </a:r>
                    </a:p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visual 可依赖 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3646F-A175-4F65-9027-5443BCF8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应用负责组装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605E-3FD2-45E1-9779-08CAF0F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91175"/>
            <a:ext cx="8296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React 界面、宿主集成和业务适配留在应用层。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3028-E4ED-4E73-8A5C-5D38CA2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包名暂定；大体积素材可独立发布，清单引用固定版本。</a:t>
            </a:r>
          </a:p>
        </p:txBody>
      </p:sp>
    </p:spTree>
    <p:extLst>
      <p:ext uri="{BB962C8B-B14F-4D97-AF65-F5344CB8AC3E}">
        <p14:creationId xmlns:p14="http://schemas.microsoft.com/office/powerpoint/2010/main" val="642999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58">
            <a:extLst xmlns:a="http://schemas.openxmlformats.org/drawingml/2006/main">
              <a:ext uri="{FF2B5EF4-FFF2-40B4-BE49-F238E27FC236}">
                <a16:creationId xmlns:a16="http://schemas.microsoft.com/office/drawing/2014/main" id="{08BE1099-AFA8-45D3-A25C-601C644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包依赖与禁止事项</a:t>
            </a:r>
          </a:p>
        </p:txBody>
      </p:sp>
      <p:sp>
        <p:nvSpPr>
          <p:cNvPr id="2" name="v4-text-59">
            <a:extLst xmlns:a="http://schemas.openxmlformats.org/drawingml/2006/main">
              <a:ext uri="{FF2B5EF4-FFF2-40B4-BE49-F238E27FC236}">
                <a16:creationId xmlns:a16="http://schemas.microsoft.com/office/drawing/2014/main" id="{039FC4E9-E95B-4F96-877D-94A45AA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依赖只通过公开入口；外部实现通过接口注入运行时</a:t>
            </a:r>
          </a:p>
        </p:txBody>
      </p:sp>
      <p:sp>
        <p:nvSpPr>
          <p:cNvPr id="3" name="v4-text-60">
            <a:extLst xmlns:a="http://schemas.openxmlformats.org/drawingml/2006/main">
              <a:ext uri="{FF2B5EF4-FFF2-40B4-BE49-F238E27FC236}">
                <a16:creationId xmlns:a16="http://schemas.microsoft.com/office/drawing/2014/main" id="{78A14667-753B-4946-B687-80C3BAA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075"/>
                <a:gridCol w="3686175"/>
                <a:gridCol w="44005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允许依赖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禁止事项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必要的 Schema 基础库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依赖运行时、UI 或具体素材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runtime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contracts；内部通用模块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 React、Pixi、HTTP 客户端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contracts、Pixi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直接修改权威状态或业务任务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 / logic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导入渲染器或硬编码全局实例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 / visual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contracts、renderer-pixi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绕过行为契约驱动物品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 / office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以上公开入口与宿主适配器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跨包读取私有文件或内部状态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1">
            <a:extLst xmlns:a="http://schemas.openxmlformats.org/drawingml/2006/main">
              <a:ext uri="{FF2B5EF4-FFF2-40B4-BE49-F238E27FC236}">
                <a16:creationId xmlns:a16="http://schemas.microsoft.com/office/drawing/2014/main" id="{3E064558-071E-46B5-8092-010988A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应用把实现注入内核；内核不反向导入具体插件、宿主和内容。</a:t>
            </a:r>
          </a:p>
        </p:txBody>
      </p:sp>
    </p:spTree>
    <p:extLst>
      <p:ext uri="{BB962C8B-B14F-4D97-AF65-F5344CB8AC3E}">
        <p14:creationId xmlns:p14="http://schemas.microsoft.com/office/powerpoint/2010/main" val="1550333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62">
            <a:extLst xmlns:a="http://schemas.openxmlformats.org/drawingml/2006/main">
              <a:ext uri="{FF2B5EF4-FFF2-40B4-BE49-F238E27FC236}">
                <a16:creationId xmlns:a16="http://schemas.microsoft.com/office/drawing/2014/main" id="{56C9DF38-F770-4432-94D5-CAA2B22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建议项目目录</a:t>
            </a:r>
          </a:p>
        </p:txBody>
      </p:sp>
      <p:sp>
        <p:nvSpPr>
          <p:cNvPr id="2" name="v4-text-63">
            <a:extLst xmlns:a="http://schemas.openxmlformats.org/drawingml/2006/main">
              <a:ext uri="{FF2B5EF4-FFF2-40B4-BE49-F238E27FC236}">
                <a16:creationId xmlns:a16="http://schemas.microsoft.com/office/drawing/2014/main" id="{63F81B20-0324-44FE-814E-AACF050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业务应用、可复用代码、素材内容和制作工具分开维护</a:t>
            </a:r>
          </a:p>
        </p:txBody>
      </p:sp>
      <p:sp>
        <p:nvSpPr>
          <p:cNvPr id="3" name="v4-text-64">
            <a:extLst xmlns:a="http://schemas.openxmlformats.org/drawingml/2006/main">
              <a:ext uri="{FF2B5EF4-FFF2-40B4-BE49-F238E27FC236}">
                <a16:creationId xmlns:a16="http://schemas.microsoft.com/office/drawing/2014/main" id="{578580FA-04DD-48BF-9946-A629035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8768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变更责任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apps/office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页面、业务接入、宿主及适配器组装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产品与应用集成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公共协议、Schema、扩展接口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架构与契约维护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packages/runtime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状态、调度、空间、资源、地图逻辑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运行时维护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场景渲染、动画、交互输入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视觉工程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packages/office-pack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家具与行为；logic / visual 分入口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场景与内容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content/characters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人物源素材、清单和资源版本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内容制作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tools/authoring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制作、审计、预览、验收与发布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内容工具链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5">
            <a:extLst xmlns:a="http://schemas.openxmlformats.org/drawingml/2006/main">
              <a:ext uri="{FF2B5EF4-FFF2-40B4-BE49-F238E27FC236}">
                <a16:creationId xmlns:a16="http://schemas.microsoft.com/office/drawing/2014/main" id="{E19367FF-3FD0-4789-9062-ABEA1D6A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测试跟随所属模块；跨包契约测试与端到端样例由集成层维护。</a:t>
            </a:r>
          </a:p>
        </p:txBody>
      </p:sp>
    </p:spTree>
    <p:extLst>
      <p:ext uri="{BB962C8B-B14F-4D97-AF65-F5344CB8AC3E}">
        <p14:creationId xmlns:p14="http://schemas.microsoft.com/office/powerpoint/2010/main" val="14971862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66">
            <a:extLst xmlns:a="http://schemas.openxmlformats.org/drawingml/2006/main">
              <a:ext uri="{FF2B5EF4-FFF2-40B4-BE49-F238E27FC236}">
                <a16:creationId xmlns:a16="http://schemas.microsoft.com/office/drawing/2014/main" id="{92E0FC1A-D256-44FB-910E-B3A6F12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变化应该落在哪里</a:t>
            </a:r>
          </a:p>
        </p:txBody>
      </p:sp>
      <p:sp>
        <p:nvSpPr>
          <p:cNvPr id="2" name="v4-text-67">
            <a:extLst xmlns:a="http://schemas.openxmlformats.org/drawingml/2006/main">
              <a:ext uri="{FF2B5EF4-FFF2-40B4-BE49-F238E27FC236}">
                <a16:creationId xmlns:a16="http://schemas.microsoft.com/office/drawing/2014/main" id="{5A41D95F-EFAE-41A4-AECB-063822D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用真实扩展检验边界，而不是只检查目录名称</a:t>
            </a:r>
          </a:p>
        </p:txBody>
      </p:sp>
      <p:sp>
        <p:nvSpPr>
          <p:cNvPr id="3" name="v4-text-68">
            <a:extLst xmlns:a="http://schemas.openxmlformats.org/drawingml/2006/main">
              <a:ext uri="{FF2B5EF4-FFF2-40B4-BE49-F238E27FC236}">
                <a16:creationId xmlns:a16="http://schemas.microsoft.com/office/drawing/2014/main" id="{9121A494-26FD-458E-AAB4-ECBB53C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572000"/>
                <a:gridCol w="37338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需求变化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主要修改位置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不应被迫修改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新增一个人物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人物包、清单与素材验收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寻路与任务调度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优化敲键盘动作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动作帧、表现配置及视觉测试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业务协议与资源预约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新增饮水机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家具定义、行为和物品视图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通用占用与生命周期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替换寻路算法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导航适配器及其验证用例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人物素材与业务页面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接入新的 Agent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应用适配、业务数据映射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场景内核与渲染器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调整地图编辑界面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 UI 与输入转换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整数格和合法性规则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9">
            <a:extLst xmlns:a="http://schemas.openxmlformats.org/drawingml/2006/main">
              <a:ext uri="{FF2B5EF4-FFF2-40B4-BE49-F238E27FC236}">
                <a16:creationId xmlns:a16="http://schemas.microsoft.com/office/drawing/2014/main" id="{1BB062D1-3303-4774-ACD6-B586F9F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确实出现新的通用需求时，通过契约评审演进中心。</a:t>
            </a:r>
          </a:p>
        </p:txBody>
      </p:sp>
    </p:spTree>
    <p:extLst>
      <p:ext uri="{BB962C8B-B14F-4D97-AF65-F5344CB8AC3E}">
        <p14:creationId xmlns:p14="http://schemas.microsoft.com/office/powerpoint/2010/main" val="2139880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3A22F-DB43-46F9-833F-4365711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新增饮水机的接入流程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4CFF-8223-4C90-BB87-A3A202A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BDD9-8DB0-40AB-AEF7-63783FD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BA652-9A93-4E49-AFFE-CC2BFC7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38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内容负责人声明家具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C0A2-E0A2-4A53-855B-491F08A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050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定义底部占地、使用格、水量状态和一次可用人数。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9BD7-D7B9-4770-A6CF-DAA2D0E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64FB-B3A1-4C19-A872-95AEAD6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4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行为负责人描述流程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CA30-0494-4171-B062-2BD0175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声明参与者、预约需求，以及走近、使用、离开阶段。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7CEEC-7021-4C57-85F8-44B2E68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4622-4083-462A-9042-8466B1F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90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视觉负责人提供动作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BCAC-540E-4B55-AB07-F3F6EA2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576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提供匹配姿态与朝向，通过接触点和遮挡验收。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890F-0307-4FDD-97B2-192758E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ED89-44F5-48BD-BC7C-3327964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672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集成负责人整体验收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010A-F727-4AF9-96D9-7019437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覆盖正常取水、多人排队、途中取消和缺少动作。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968DE-D5DD-47EB-9B01-F8FDAE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目标：新增内容与视图，复用内核的路线、占用和释放机制。</a:t>
            </a:r>
          </a:p>
        </p:txBody>
      </p:sp>
    </p:spTree>
    <p:extLst>
      <p:ext uri="{BB962C8B-B14F-4D97-AF65-F5344CB8AC3E}">
        <p14:creationId xmlns:p14="http://schemas.microsoft.com/office/powerpoint/2010/main" val="18680756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4-text-70">
            <a:extLst xmlns:a="http://schemas.openxmlformats.org/drawingml/2006/main">
              <a:ext uri="{FF2B5EF4-FFF2-40B4-BE49-F238E27FC236}">
                <a16:creationId xmlns:a16="http://schemas.microsoft.com/office/drawing/2014/main" id="{6A9C8791-71E2-4E96-A020-0D384F9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人物与素材的标准化流程</a:t>
            </a:r>
          </a:p>
        </p:txBody>
      </p:sp>
      <p:sp>
        <p:nvSpPr>
          <p:cNvPr id="2" name="v4-text-71">
            <a:extLst xmlns:a="http://schemas.openxmlformats.org/drawingml/2006/main">
              <a:ext uri="{FF2B5EF4-FFF2-40B4-BE49-F238E27FC236}">
                <a16:creationId xmlns:a16="http://schemas.microsoft.com/office/drawing/2014/main" id="{A911AB44-C8D7-488B-B271-6807273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把图片试错留在制作侧，运行系统只消费通过验收的版本</a:t>
            </a:r>
          </a:p>
        </p:txBody>
      </p:sp>
      <p:sp>
        <p:nvSpPr>
          <p:cNvPr id="3" name="v4-text-72">
            <a:extLst xmlns:a="http://schemas.openxmlformats.org/drawingml/2006/main">
              <a:ext uri="{FF2B5EF4-FFF2-40B4-BE49-F238E27FC236}">
                <a16:creationId xmlns:a16="http://schemas.microsoft.com/office/drawing/2014/main" id="{8108C392-9048-46FF-812C-4327552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v4-diagram-73">
            <a:extLst xmlns:a="http://schemas.openxmlformats.org/drawingml/2006/main">
              <a:ext uri="{FF2B5EF4-FFF2-40B4-BE49-F238E27FC236}">
                <a16:creationId xmlns:a16="http://schemas.microsoft.com/office/drawing/2014/main" id="{5B066DEE-B4DD-4DF7-B992-B2600D6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母版与规格</a:t>
            </a:r>
          </a:p>
        </p:txBody>
      </p:sp>
      <p:sp>
        <p:nvSpPr>
          <p:cNvPr id="5" name="v4-diagram-74">
            <a:extLst xmlns:a="http://schemas.openxmlformats.org/drawingml/2006/main">
              <a:ext uri="{FF2B5EF4-FFF2-40B4-BE49-F238E27FC236}">
                <a16:creationId xmlns:a16="http://schemas.microsoft.com/office/drawing/2014/main" id="{735D49E6-3382-4A9A-A3AF-FC78A2F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候选素材</a:t>
            </a:r>
          </a:p>
        </p:txBody>
      </p:sp>
      <p:sp>
        <p:nvSpPr>
          <p:cNvPr id="6" name="v4-diagram-75">
            <a:extLst xmlns:a="http://schemas.openxmlformats.org/drawingml/2006/main">
              <a:ext uri="{FF2B5EF4-FFF2-40B4-BE49-F238E27FC236}">
                <a16:creationId xmlns:a16="http://schemas.microsoft.com/office/drawing/2014/main" id="{F6427E3B-A3BE-4893-AAB3-53A58D7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自动审计</a:t>
            </a:r>
          </a:p>
        </p:txBody>
      </p:sp>
      <p:sp>
        <p:nvSpPr>
          <p:cNvPr id="7" name="v4-diagram-76">
            <a:extLst xmlns:a="http://schemas.openxmlformats.org/drawingml/2006/main">
              <a:ext uri="{FF2B5EF4-FFF2-40B4-BE49-F238E27FC236}">
                <a16:creationId xmlns:a16="http://schemas.microsoft.com/office/drawing/2014/main" id="{97616161-A269-481A-9F73-D59FB5F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隔离预览</a:t>
            </a:r>
          </a:p>
        </p:txBody>
      </p:sp>
      <p:sp>
        <p:nvSpPr>
          <p:cNvPr id="8" name="v4-diagram-77">
            <a:extLst xmlns:a="http://schemas.openxmlformats.org/drawingml/2006/main">
              <a:ext uri="{FF2B5EF4-FFF2-40B4-BE49-F238E27FC236}">
                <a16:creationId xmlns:a16="http://schemas.microsoft.com/office/drawing/2014/main" id="{E7FF2213-7448-4FAE-8797-21B0C912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视觉验收</a:t>
            </a:r>
          </a:p>
        </p:txBody>
      </p:sp>
      <p:sp>
        <p:nvSpPr>
          <p:cNvPr id="9" name="v4-diagram-78">
            <a:extLst xmlns:a="http://schemas.openxmlformats.org/drawingml/2006/main">
              <a:ext uri="{FF2B5EF4-FFF2-40B4-BE49-F238E27FC236}">
                <a16:creationId xmlns:a16="http://schemas.microsoft.com/office/drawing/2014/main" id="{1DB0168E-EEDA-46F5-9EC9-E534932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发布资源包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5" name="v4-text-79">
            <a:extLst xmlns:a="http://schemas.openxmlformats.org/drawingml/2006/main">
              <a:ext uri="{FF2B5EF4-FFF2-40B4-BE49-F238E27FC236}">
                <a16:creationId xmlns:a16="http://schemas.microsoft.com/office/drawing/2014/main" id="{0D371609-7D15-4F11-BD66-6E5C206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可自动检查的规则</a:t>
            </a:r>
          </a:p>
        </p:txBody>
      </p:sp>
      <p:sp>
        <p:nvSpPr>
          <p:cNvPr id="16" name="v4-text-80">
            <a:extLst xmlns:a="http://schemas.openxmlformats.org/drawingml/2006/main">
              <a:ext uri="{FF2B5EF4-FFF2-40B4-BE49-F238E27FC236}">
                <a16:creationId xmlns:a16="http://schemas.microsoft.com/office/drawing/2014/main" id="{2A87A633-D995-4F6A-8AFC-5E10D13A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2101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画布与锚点、头身比例、动作能力、</a:t>
            </a:r>
          </a:p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工作帧静止区域、步态循环连续性。</a:t>
            </a:r>
          </a:p>
        </p:txBody>
      </p:sp>
      <p:sp>
        <p:nvSpPr>
          <p:cNvPr id="17" name="v4-text-81">
            <a:extLst xmlns:a="http://schemas.openxmlformats.org/drawingml/2006/main">
              <a:ext uri="{FF2B5EF4-FFF2-40B4-BE49-F238E27FC236}">
                <a16:creationId xmlns:a16="http://schemas.microsoft.com/office/drawing/2014/main" id="{EB67AB72-F681-42AC-AA6D-DE68D67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需要视觉验收的结果</a:t>
            </a:r>
          </a:p>
        </p:txBody>
      </p:sp>
      <p:sp>
        <p:nvSpPr>
          <p:cNvPr id="18" name="v4-text-82">
            <a:extLst xmlns:a="http://schemas.openxmlformats.org/drawingml/2006/main">
              <a:ext uri="{FF2B5EF4-FFF2-40B4-BE49-F238E27FC236}">
                <a16:creationId xmlns:a16="http://schemas.microsoft.com/office/drawing/2014/main" id="{3EAA06F8-50E6-4272-A254-78A7F467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5105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走路自然度、入座比例、手与桌面接触、</a:t>
            </a:r>
          </a:p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遮挡关系以及不同朝向的一致性。</a:t>
            </a:r>
          </a:p>
        </p:txBody>
      </p:sp>
      <p:sp>
        <p:nvSpPr>
          <p:cNvPr id="19" name="v4-text-83">
            <a:extLst xmlns:a="http://schemas.openxmlformats.org/drawingml/2006/main">
              <a:ext uri="{FF2B5EF4-FFF2-40B4-BE49-F238E27FC236}">
                <a16:creationId xmlns:a16="http://schemas.microsoft.com/office/drawing/2014/main" id="{EFB60BD5-7CC7-4CF9-A9C8-BB2E92E6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验收记录绑定素材和规则版本；内容修改后重新检查。</a:t>
            </a:r>
          </a:p>
        </p:txBody>
      </p:sp>
      <p:sp>
        <p:nvSpPr>
          <p:cNvPr id="20" name="v4-text-84">
            <a:extLst xmlns:a="http://schemas.openxmlformats.org/drawingml/2006/main">
              <a:ext uri="{FF2B5EF4-FFF2-40B4-BE49-F238E27FC236}">
                <a16:creationId xmlns:a16="http://schemas.microsoft.com/office/drawing/2014/main" id="{B69A0D25-A6E7-48F0-ABEA-30FEB8B3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修图不改变寻路规则；增加人物不需要另写一套动画播放器。</a:t>
            </a:r>
          </a:p>
        </p:txBody>
      </p:sp>
    </p:spTree>
    <p:extLst>
      <p:ext uri="{BB962C8B-B14F-4D97-AF65-F5344CB8AC3E}">
        <p14:creationId xmlns:p14="http://schemas.microsoft.com/office/powerpoint/2010/main" val="17873189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85">
            <a:extLst xmlns:a="http://schemas.openxmlformats.org/drawingml/2006/main">
              <a:ext uri="{FF2B5EF4-FFF2-40B4-BE49-F238E27FC236}">
                <a16:creationId xmlns:a16="http://schemas.microsoft.com/office/drawing/2014/main" id="{4759804D-83EC-412F-B970-529F49E9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包归属与人员责任</a:t>
            </a:r>
          </a:p>
        </p:txBody>
      </p:sp>
      <p:sp>
        <p:nvSpPr>
          <p:cNvPr id="2" name="v4-text-86">
            <a:extLst xmlns:a="http://schemas.openxmlformats.org/drawingml/2006/main">
              <a:ext uri="{FF2B5EF4-FFF2-40B4-BE49-F238E27FC236}">
                <a16:creationId xmlns:a16="http://schemas.microsoft.com/office/drawing/2014/main" id="{6ED5E20C-D763-4AF9-BC48-46B09F5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每个边界有负责人和备份评审者，人数不与包数量绑定</a:t>
            </a:r>
          </a:p>
        </p:txBody>
      </p:sp>
      <p:sp>
        <p:nvSpPr>
          <p:cNvPr id="3" name="v4-text-87">
            <a:extLst xmlns:a="http://schemas.openxmlformats.org/drawingml/2006/main">
              <a:ext uri="{FF2B5EF4-FFF2-40B4-BE49-F238E27FC236}">
                <a16:creationId xmlns:a16="http://schemas.microsoft.com/office/drawing/2014/main" id="{74D8FDB1-5486-46DC-BF3B-9940C69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4429125"/>
                <a:gridCol w="4238625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责任领域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维护范围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主要交付与验收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架构与契约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contracts；跨包接口和兼容策略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接口示例、契约测试、变更决策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runtime；导航、占用、调度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无头测试、取消恢复、并发正确性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视觉工程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renderer-pixi；物品视图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场景预览、动画一致性、性能基线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内容与工具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office-pack、角色素材、authoring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可安装内容、制作规范、验收记录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应用与集成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apps/office；业务和宿主接入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完整业务样例、端到端与发布验收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88">
            <a:extLst xmlns:a="http://schemas.openxmlformats.org/drawingml/2006/main">
              <a:ext uri="{FF2B5EF4-FFF2-40B4-BE49-F238E27FC236}">
                <a16:creationId xmlns:a16="http://schemas.microsoft.com/office/drawing/2014/main" id="{38F8038D-861B-4592-849B-F075322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架构负责人管理边界；功能负责人对跨包的最终结果负责。</a:t>
            </a:r>
          </a:p>
        </p:txBody>
      </p:sp>
    </p:spTree>
    <p:extLst>
      <p:ext uri="{BB962C8B-B14F-4D97-AF65-F5344CB8AC3E}">
        <p14:creationId xmlns:p14="http://schemas.microsoft.com/office/powerpoint/2010/main" val="15054368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30DA-6B5C-4963-B200-2A29B6E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工作内容如何拆成任务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4E77-2218-456A-A11F-08CFC3F4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5781675"/>
                <a:gridCol w="31432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工作组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具体工作域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共同交付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架构协议　② 世界模型　③ 持久化迁移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可版本化的数据与接口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导航碰撞　⑤ 调度协作　⑥ 家具交互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可测试的行为执行链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⑦ 人物动画　⑧ 场景渲染　⑨ 素材构建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一致的画面与资源标准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⑩ 地图编辑　⑪ 插件场景　⑫ 外部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可独立接入的扩展能力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⑬ 应用调试　⑭ 测试性能　⑮ 开源工程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回归验证、文档和发布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5BC4-6D55-4E06-BA52-D5F8160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十五项是工作域；按接口和验收产物拆任务，不等于十五个人或十五个包。</a:t>
            </a:r>
          </a:p>
        </p:txBody>
      </p:sp>
    </p:spTree>
    <p:extLst>
      <p:ext uri="{BB962C8B-B14F-4D97-AF65-F5344CB8AC3E}">
        <p14:creationId xmlns:p14="http://schemas.microsoft.com/office/powerpoint/2010/main" val="14577033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4-text-89">
            <a:extLst xmlns:a="http://schemas.openxmlformats.org/drawingml/2006/main">
              <a:ext uri="{FF2B5EF4-FFF2-40B4-BE49-F238E27FC236}">
                <a16:creationId xmlns:a16="http://schemas.microsoft.com/office/drawing/2014/main" id="{B8EE3F87-9449-4665-B4DF-A8BFFA6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跨包需求的协作方式</a:t>
            </a:r>
          </a:p>
        </p:txBody>
      </p:sp>
      <p:sp>
        <p:nvSpPr>
          <p:cNvPr id="2" name="v4-text-90">
            <a:extLst xmlns:a="http://schemas.openxmlformats.org/drawingml/2006/main">
              <a:ext uri="{FF2B5EF4-FFF2-40B4-BE49-F238E27FC236}">
                <a16:creationId xmlns:a16="http://schemas.microsoft.com/office/drawing/2014/main" id="{A5E63005-C085-43DD-9B6C-17C1E97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一次需求可以涉及多个维护者，但必须有明确的整体验收负责人</a:t>
            </a:r>
          </a:p>
        </p:txBody>
      </p:sp>
      <p:sp>
        <p:nvSpPr>
          <p:cNvPr id="3" name="v4-text-91">
            <a:extLst xmlns:a="http://schemas.openxmlformats.org/drawingml/2006/main">
              <a:ext uri="{FF2B5EF4-FFF2-40B4-BE49-F238E27FC236}">
                <a16:creationId xmlns:a16="http://schemas.microsoft.com/office/drawing/2014/main" id="{CF8C91EB-D8F3-4EB6-B6B1-8807235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v4-diagram-92">
            <a:extLst xmlns:a="http://schemas.openxmlformats.org/drawingml/2006/main">
              <a:ext uri="{FF2B5EF4-FFF2-40B4-BE49-F238E27FC236}">
                <a16:creationId xmlns:a16="http://schemas.microsoft.com/office/drawing/2014/main" id="{B1C19C55-4B4C-4D44-B2E9-F78149B4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明确变化</a:t>
            </a:r>
          </a:p>
        </p:txBody>
      </p:sp>
      <p:sp>
        <p:nvSpPr>
          <p:cNvPr id="5" name="v4-diagram-93">
            <a:extLst xmlns:a="http://schemas.openxmlformats.org/drawingml/2006/main">
              <a:ext uri="{FF2B5EF4-FFF2-40B4-BE49-F238E27FC236}">
                <a16:creationId xmlns:a16="http://schemas.microsoft.com/office/drawing/2014/main" id="{8E049A38-52EB-4FA4-AF68-E151FC6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约定接口</a:t>
            </a:r>
          </a:p>
        </p:txBody>
      </p:sp>
      <p:sp>
        <p:nvSpPr>
          <p:cNvPr id="6" name="v4-diagram-94">
            <a:extLst xmlns:a="http://schemas.openxmlformats.org/drawingml/2006/main">
              <a:ext uri="{FF2B5EF4-FFF2-40B4-BE49-F238E27FC236}">
                <a16:creationId xmlns:a16="http://schemas.microsoft.com/office/drawing/2014/main" id="{961A8E2D-82C6-46AD-978E-9900F2F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并行开发</a:t>
            </a:r>
          </a:p>
        </p:txBody>
      </p:sp>
      <p:sp>
        <p:nvSpPr>
          <p:cNvPr id="7" name="v4-diagram-95">
            <a:extLst xmlns:a="http://schemas.openxmlformats.org/drawingml/2006/main">
              <a:ext uri="{FF2B5EF4-FFF2-40B4-BE49-F238E27FC236}">
                <a16:creationId xmlns:a16="http://schemas.microsoft.com/office/drawing/2014/main" id="{B131F3EE-FD88-45A1-AAD7-BCC5314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集成验收</a:t>
            </a:r>
          </a:p>
        </p:txBody>
      </p:sp>
      <p:sp>
        <p:nvSpPr>
          <p:cNvPr id="8" name="v4-diagram-96">
            <a:extLst xmlns:a="http://schemas.openxmlformats.org/drawingml/2006/main">
              <a:ext uri="{FF2B5EF4-FFF2-40B4-BE49-F238E27FC236}">
                <a16:creationId xmlns:a16="http://schemas.microsoft.com/office/drawing/2014/main" id="{D1F06580-B09B-45E6-A9EC-ED38DCA0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版本发布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28900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67275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05650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44025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3" name="v4-text-97">
            <a:extLst xmlns:a="http://schemas.openxmlformats.org/drawingml/2006/main">
              <a:ext uri="{FF2B5EF4-FFF2-40B4-BE49-F238E27FC236}">
                <a16:creationId xmlns:a16="http://schemas.microsoft.com/office/drawing/2014/main" id="{6AF3792D-0482-4E78-9F6F-C7A76E2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标出改动边界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确定功能负责人</a:t>
            </a:r>
          </a:p>
        </p:txBody>
      </p:sp>
      <p:sp>
        <p:nvSpPr>
          <p:cNvPr id="14" name="v4-text-98">
            <a:extLst xmlns:a="http://schemas.openxmlformats.org/drawingml/2006/main">
              <a:ext uri="{FF2B5EF4-FFF2-40B4-BE49-F238E27FC236}">
                <a16:creationId xmlns:a16="http://schemas.microsoft.com/office/drawing/2014/main" id="{7F3DF9DC-599A-4FDF-AAE8-184C9F27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输入、输出、错误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能力与版本范围</a:t>
            </a:r>
          </a:p>
        </p:txBody>
      </p:sp>
      <p:sp>
        <p:nvSpPr>
          <p:cNvPr id="15" name="v4-text-99">
            <a:extLst xmlns:a="http://schemas.openxmlformats.org/drawingml/2006/main">
              <a:ext uri="{FF2B5EF4-FFF2-40B4-BE49-F238E27FC236}">
                <a16:creationId xmlns:a16="http://schemas.microsoft.com/office/drawing/2014/main" id="{02F7A7E7-ECB0-4A5D-BE03-4307C71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先提供示例与桩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各包独立测试</a:t>
            </a:r>
          </a:p>
        </p:txBody>
      </p:sp>
      <p:sp>
        <p:nvSpPr>
          <p:cNvPr id="16" name="v4-text-100">
            <a:extLst xmlns:a="http://schemas.openxmlformats.org/drawingml/2006/main">
              <a:ext uri="{FF2B5EF4-FFF2-40B4-BE49-F238E27FC236}">
                <a16:creationId xmlns:a16="http://schemas.microsoft.com/office/drawing/2014/main" id="{1591C72B-1CE9-4ACD-9696-4D534349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正常和异常路径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一起验证</a:t>
            </a:r>
          </a:p>
        </p:txBody>
      </p:sp>
      <p:sp>
        <p:nvSpPr>
          <p:cNvPr id="17" name="v4-text-101">
            <a:extLst xmlns:a="http://schemas.openxmlformats.org/drawingml/2006/main">
              <a:ext uri="{FF2B5EF4-FFF2-40B4-BE49-F238E27FC236}">
                <a16:creationId xmlns:a16="http://schemas.microsoft.com/office/drawing/2014/main" id="{B0E67445-EAF4-4515-8C5E-C56B1585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兼容说明与迁移</a:t>
            </a:r>
          </a:p>
          <a:p xmlns:a="http://schemas.openxmlformats.org/drawingml/2006/main">
            <a:pPr algn="ctr"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可恢复的旧版本</a:t>
            </a:r>
          </a:p>
        </p:txBody>
      </p:sp>
      <p:sp>
        <p:nvSpPr>
          <p:cNvPr id="18" name="v4-text-102">
            <a:extLst xmlns:a="http://schemas.openxmlformats.org/drawingml/2006/main">
              <a:ext uri="{FF2B5EF4-FFF2-40B4-BE49-F238E27FC236}">
                <a16:creationId xmlns:a16="http://schemas.microsoft.com/office/drawing/2014/main" id="{47B6BC29-DC7C-4889-9969-B9D45F3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接口变更</a:t>
            </a:r>
          </a:p>
        </p:txBody>
      </p:sp>
      <p:sp>
        <p:nvSpPr>
          <p:cNvPr id="19" name="v4-text-103">
            <a:extLst xmlns:a="http://schemas.openxmlformats.org/drawingml/2006/main">
              <a:ext uri="{FF2B5EF4-FFF2-40B4-BE49-F238E27FC236}">
                <a16:creationId xmlns:a16="http://schemas.microsoft.com/office/drawing/2014/main" id="{DD6CF2EB-54EE-4608-8FE9-D69A758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896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提供方与使用方共同评审，重大变化留下设计决策记录。</a:t>
            </a:r>
          </a:p>
        </p:txBody>
      </p:sp>
      <p:sp>
        <p:nvSpPr>
          <p:cNvPr id="20" name="v4-text-104">
            <a:extLst xmlns:a="http://schemas.openxmlformats.org/drawingml/2006/main">
              <a:ext uri="{FF2B5EF4-FFF2-40B4-BE49-F238E27FC236}">
                <a16:creationId xmlns:a16="http://schemas.microsoft.com/office/drawing/2014/main" id="{992BB0C9-A7C0-415B-8E63-D4DF4E7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开源协作</a:t>
            </a:r>
          </a:p>
        </p:txBody>
      </p:sp>
      <p:sp>
        <p:nvSpPr>
          <p:cNvPr id="21" name="v4-text-105">
            <a:extLst xmlns:a="http://schemas.openxmlformats.org/drawingml/2006/main">
              <a:ext uri="{FF2B5EF4-FFF2-40B4-BE49-F238E27FC236}">
                <a16:creationId xmlns:a16="http://schemas.microsoft.com/office/drawing/2014/main" id="{B0A5B476-AD5F-467E-9E96-DBAA2E3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00650"/>
            <a:ext cx="896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用 CODEOWNERS 标记归属，用示例和 CI 说明贡献要求。</a:t>
            </a:r>
          </a:p>
        </p:txBody>
      </p:sp>
      <p:sp>
        <p:nvSpPr>
          <p:cNvPr id="22" name="v4-text-106">
            <a:extLst xmlns:a="http://schemas.openxmlformats.org/drawingml/2006/main">
              <a:ext uri="{FF2B5EF4-FFF2-40B4-BE49-F238E27FC236}">
                <a16:creationId xmlns:a16="http://schemas.microsoft.com/office/drawing/2014/main" id="{D9A29E00-E093-4232-989A-7B3313C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完整链路可用是共同交付标准，不能只看各包是否编译通过。</a:t>
            </a:r>
          </a:p>
        </p:txBody>
      </p:sp>
    </p:spTree>
    <p:extLst>
      <p:ext uri="{BB962C8B-B14F-4D97-AF65-F5344CB8AC3E}">
        <p14:creationId xmlns:p14="http://schemas.microsoft.com/office/powerpoint/2010/main" val="7044982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14E6-EFB8-4A33-9B2A-E3745EC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渐进迁移顺序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2F31-9B21-471F-BBAD-B9A4B26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314950"/>
                <a:gridCol w="33242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验收产物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 固定现有行为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梳理命令、状态、动作能力与错误语义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行为基线测试与协议样例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 提取公共边界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拆分 contracts 与 runtime，约束依赖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无浏览器测试、跨包契约测试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 分离内容与表现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拆出渲染器、场景包、素材与制作工具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完整交互效果保持一致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 验证复用与发布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新人物、新家具、第二个外部接入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兼容说明、示例、回归与发布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018F-6347-4F41-B0AB-EF8863C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每个阶段保持完整链路可用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6DEED-2588-4A43-B6AA-C5B4EA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2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命令、移动、交流、回座、取消与结果回执一起验收。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3523040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DF-60DE-42B9-816A-26538BB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当前基础与开源交付清单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9C02-2450-409D-8D90-EF09EE8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19E9-9CBF-42FF-8571-B7B1FDC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68C9-27AA-48F3-BD13-23B69FF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387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无头运行时与版本化场景协议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整数格、家具互动与可信内置插件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独立角色包与素材准入流程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AFA7-0BDE-45BF-B894-9F12DD8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rPr>
              <a:t>后续补齐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5125-2F5F-465B-B1D8-A67C550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510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独立包边界、兼容矩阵与公开样例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包负责人、贡献指南和自动化发布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生产接入的权限与可靠性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090F-1F41-42FC-993F-C70AEFD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1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共同验收底线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7DD0-6162-4004-B4B6-E25A084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06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正常流程之外，覆盖堵路、并发、取消、缺素材与恢复路径。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代码、图片和字体分别核对许可；已实现和规划功能明确区分。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5EEBB-778B-4320-8F88-E2EBF60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首版面向可信扩展；远程不可信插件市场与沙箱不在本次范围。</a:t>
            </a:r>
          </a:p>
        </p:txBody>
      </p:sp>
    </p:spTree>
    <p:extLst>
      <p:ext uri="{BB962C8B-B14F-4D97-AF65-F5344CB8AC3E}">
        <p14:creationId xmlns:p14="http://schemas.microsoft.com/office/powerpoint/2010/main" val="143591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2026-10-01T14:02:54.6760000Z</dcterms:created>
  <dcterms:modified xsi:type="dcterms:W3CDTF">2026-10-01T14:02:54.6760000Z</dcterms:modified>
</coreProperties>
</file>