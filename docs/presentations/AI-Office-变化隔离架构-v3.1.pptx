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614549152e4f74" /><Relationship Type="http://schemas.openxmlformats.org/officeDocument/2006/relationships/extended-properties" Target="/docProps/app.xml" Id="R27ebb375395f4ef0" /><Relationship Type="http://schemas.openxmlformats.org/officeDocument/2006/relationships/officeDocument" Target="/ppt/presentation.xml" Id="R4f2c466ab0bf42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3c53ed46064ad3"/>
  </p:sldMasterIdLst>
  <p:notesMasterIdLst>
    <p:notesMasterId xmlns:r="http://schemas.openxmlformats.org/officeDocument/2006/relationships" r:id="Rc12d48fa06334076"/>
  </p:notesMasterIdLst>
  <p:sldIdLst>
    <p:sldId xmlns:r="http://schemas.openxmlformats.org/officeDocument/2006/relationships" id="256" r:id="R196526d0d298430d"/>
    <p:sldId xmlns:r="http://schemas.openxmlformats.org/officeDocument/2006/relationships" id="257" r:id="R39c0582006cb4774"/>
    <p:sldId xmlns:r="http://schemas.openxmlformats.org/officeDocument/2006/relationships" id="258" r:id="R4c66d66f2e7649d1"/>
    <p:sldId xmlns:r="http://schemas.openxmlformats.org/officeDocument/2006/relationships" id="259" r:id="R44fdfe4134c84188"/>
    <p:sldId xmlns:r="http://schemas.openxmlformats.org/officeDocument/2006/relationships" id="260" r:id="Rff5548e34a834c33"/>
    <p:sldId xmlns:r="http://schemas.openxmlformats.org/officeDocument/2006/relationships" id="261" r:id="Rc3eb940ec8284818"/>
    <p:sldId xmlns:r="http://schemas.openxmlformats.org/officeDocument/2006/relationships" id="262" r:id="R9cf93863a2d54f35"/>
    <p:sldId xmlns:r="http://schemas.openxmlformats.org/officeDocument/2006/relationships" id="263" r:id="R3e4024d57537419f"/>
    <p:sldId xmlns:r="http://schemas.openxmlformats.org/officeDocument/2006/relationships" id="264" r:id="R3ac4fc3ce5aa4f93"/>
    <p:sldId xmlns:r="http://schemas.openxmlformats.org/officeDocument/2006/relationships" id="265" r:id="Rc925ff462e03443d"/>
    <p:sldId xmlns:r="http://schemas.openxmlformats.org/officeDocument/2006/relationships" id="266" r:id="R613428b076b64da4"/>
    <p:sldId xmlns:r="http://schemas.openxmlformats.org/officeDocument/2006/relationships" id="267" r:id="R6307ac93313f4afa"/>
    <p:sldId xmlns:r="http://schemas.openxmlformats.org/officeDocument/2006/relationships" id="268" r:id="Rf1095d602051495e"/>
    <p:sldId xmlns:r="http://schemas.openxmlformats.org/officeDocument/2006/relationships" id="269" r:id="R31ecc4acb46a4b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72a717261340a7" /><Relationship Type="http://schemas.openxmlformats.org/officeDocument/2006/relationships/slideMaster" Target="/ppt/slideMasters/slideMaster1.xml" Id="R763c53ed46064ad3" /><Relationship Type="http://schemas.openxmlformats.org/officeDocument/2006/relationships/notesMaster" Target="/ppt/notesMasters/notesMaster1.xml" Id="Rc12d48fa06334076" /><Relationship Type="http://schemas.openxmlformats.org/officeDocument/2006/relationships/presProps" Target="/ppt/presProps.xml" Id="R48903f7983194de3" /><Relationship Type="http://schemas.openxmlformats.org/officeDocument/2006/relationships/tableStyles" Target="/ppt/tableStyles.xml" Id="R7b5da9787c4243e1" /><Relationship Type="http://schemas.openxmlformats.org/officeDocument/2006/relationships/slide" Target="/ppt/slides/slide1.xml" Id="R196526d0d298430d" /><Relationship Type="http://schemas.openxmlformats.org/officeDocument/2006/relationships/slide" Target="/ppt/slides/slide2.xml" Id="R39c0582006cb4774" /><Relationship Type="http://schemas.openxmlformats.org/officeDocument/2006/relationships/slide" Target="/ppt/slides/slide3.xml" Id="R4c66d66f2e7649d1" /><Relationship Type="http://schemas.openxmlformats.org/officeDocument/2006/relationships/slide" Target="/ppt/slides/slide4.xml" Id="R44fdfe4134c84188" /><Relationship Type="http://schemas.openxmlformats.org/officeDocument/2006/relationships/slide" Target="/ppt/slides/slide5.xml" Id="Rff5548e34a834c33" /><Relationship Type="http://schemas.openxmlformats.org/officeDocument/2006/relationships/slide" Target="/ppt/slides/slide6.xml" Id="Rc3eb940ec8284818" /><Relationship Type="http://schemas.openxmlformats.org/officeDocument/2006/relationships/slide" Target="/ppt/slides/slide7.xml" Id="R9cf93863a2d54f35" /><Relationship Type="http://schemas.openxmlformats.org/officeDocument/2006/relationships/slide" Target="/ppt/slides/slide8.xml" Id="R3e4024d57537419f" /><Relationship Type="http://schemas.openxmlformats.org/officeDocument/2006/relationships/slide" Target="/ppt/slides/slide9.xml" Id="R3ac4fc3ce5aa4f93" /><Relationship Type="http://schemas.openxmlformats.org/officeDocument/2006/relationships/slide" Target="/ppt/slides/slide10.xml" Id="Rc925ff462e03443d" /><Relationship Type="http://schemas.openxmlformats.org/officeDocument/2006/relationships/slide" Target="/ppt/slides/slide11.xml" Id="R613428b076b64da4" /><Relationship Type="http://schemas.openxmlformats.org/officeDocument/2006/relationships/slide" Target="/ppt/slides/slide12.xml" Id="R6307ac93313f4afa" /><Relationship Type="http://schemas.openxmlformats.org/officeDocument/2006/relationships/slide" Target="/ppt/slides/slide13.xml" Id="Rf1095d602051495e" /><Relationship Type="http://schemas.openxmlformats.org/officeDocument/2006/relationships/slide" Target="/ppt/slides/slide14.xml" Id="R31ecc4acb46a4b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3603f552c94f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30ac3a90ce4eb3" /><Relationship Type="http://schemas.openxmlformats.org/officeDocument/2006/relationships/notesMaster" Target="/ppt/notesMasters/notesMaster1.xml" Id="R36afe716eb1e44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37ba1241124298" /><Relationship Type="http://schemas.openxmlformats.org/officeDocument/2006/relationships/notesMaster" Target="/ppt/notesMasters/notesMaster1.xml" Id="R4fb12bf0f68349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c92a979a224235" /><Relationship Type="http://schemas.openxmlformats.org/officeDocument/2006/relationships/notesMaster" Target="/ppt/notesMasters/notesMaster1.xml" Id="Rd7ef02e5a7234e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18b804ad3c4d97" /><Relationship Type="http://schemas.openxmlformats.org/officeDocument/2006/relationships/notesMaster" Target="/ppt/notesMasters/notesMaster1.xml" Id="R53871d56f72f4f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a74170c3a74e42" /><Relationship Type="http://schemas.openxmlformats.org/officeDocument/2006/relationships/notesMaster" Target="/ppt/notesMasters/notesMaster1.xml" Id="R0a70de588fca46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4ac732071c4d9c" /><Relationship Type="http://schemas.openxmlformats.org/officeDocument/2006/relationships/notesMaster" Target="/ppt/notesMasters/notesMaster1.xml" Id="Rb95515fb075341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2c51ab5c6442b5" /><Relationship Type="http://schemas.openxmlformats.org/officeDocument/2006/relationships/notesMaster" Target="/ppt/notesMasters/notesMaster1.xml" Id="R4ffbd5589f424e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3792eca7914160" /><Relationship Type="http://schemas.openxmlformats.org/officeDocument/2006/relationships/notesMaster" Target="/ppt/notesMasters/notesMaster1.xml" Id="R05c7e578f1ea4a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65b848d36342a6" /><Relationship Type="http://schemas.openxmlformats.org/officeDocument/2006/relationships/notesMaster" Target="/ppt/notesMasters/notesMaster1.xml" Id="R87fb0f60d95042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12fef8f40242e0" /><Relationship Type="http://schemas.openxmlformats.org/officeDocument/2006/relationships/notesMaster" Target="/ppt/notesMasters/notesMaster1.xml" Id="Rface3954e6784a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9e72300e7e42bc" /><Relationship Type="http://schemas.openxmlformats.org/officeDocument/2006/relationships/notesMaster" Target="/ppt/notesMasters/notesMaster1.xml" Id="Rcab2779f88c440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ec948844934e80" /><Relationship Type="http://schemas.openxmlformats.org/officeDocument/2006/relationships/notesMaster" Target="/ppt/notesMasters/notesMaster1.xml" Id="R55932d5c60284c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4e9c703a5d4190" /><Relationship Type="http://schemas.openxmlformats.org/officeDocument/2006/relationships/notesMaster" Target="/ppt/notesMasters/notesMaster1.xml" Id="R180aabdc84c740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343581b8664061" /><Relationship Type="http://schemas.openxmlformats.org/officeDocument/2006/relationships/notesMaster" Target="/ppt/notesMasters/notesMaster1.xml" Id="Rd09ff10d58154a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本方案基于当前讨论重新设计，不以旧架构或现有实现为约束。办公室是二维场景系统的第一个应用。图片来源：项目现有 public/assets/office/office.png，原样使用，不对素材许可作额外承诺。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 AI Office 架构设计讨论，2026-09-30。本页为目标设计与建议，不代表当前仓库已经完成全部实现。图形和表格采用可编辑的原生对象。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这是目标责任划分。业务状态投影为场景展示；场景只回报自身活动结果。业务任务完成必须由业务权威确认，不能因人物坐下、对白结束或动画循环结束而自动完成。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 AI Office 架构设计讨论，2026-09-30。本页为目标设计与建议，不代表当前仓库已经完成全部实现。图形和表格采用可编辑的原生对象。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 AI Office 架构设计讨论，2026-09-30。本页为目标设计与建议，不代表当前仓库已经完成全部实现。图形和表格采用可编辑的原生对象。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 AI Office 架构设计讨论，2026-09-30。本页为目标设计与建议，不代表当前仓库已经完成全部实现。图形和表格采用可编辑的原生对象。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 AI Office 架构设计讨论，2026-09-30。本页为目标设计与建议，不代表当前仓库已经完成全部实现。图形和表格采用可编辑的原生对象。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 AI Office 架构设计讨论，2026-09-30。本页为目标设计与建议，不代表当前仓库已经完成全部实现。图形和表格采用可编辑的原生对象。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数格是本二维系统的地面逻辑选择；渲染可在像素空间平滑插值。家具图片的全部轮廓不等于底部占地。工作时手和桌面的接触属于表现契约，需要内容配准和场景预览共同验收，不应改变寻路来修饰图片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 AI Office 架构设计讨论，2026-09-30。本页为目标设计与建议，不代表当前仓库已经完成全部实现。图形和表格采用可编辑的原生对象。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 AI Office 架构设计讨论，2026-09-30。本页为目标设计与建议，不代表当前仓库已经完成全部实现。图形和表格采用可编辑的原生对象。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 AI Office 架构设计讨论，2026-09-30。本页为目标设计与建议，不代表当前仓库已经完成全部实现。图形和表格采用可编辑的原生对象。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 AI Office 架构设计讨论，2026-09-30。本页为目标设计与建议，不代表当前仓库已经完成全部实现。图形和表格采用可编辑的原生对象。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 AI Office 架构设计讨论，2026-09-30。本页为目标设计与建议，不代表当前仓库已经完成全部实现。图形和表格采用可编辑的原生对象。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19ba0ae7e340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a2723cd7124019" /><Relationship Type="http://schemas.openxmlformats.org/officeDocument/2006/relationships/slideLayout" Target="/ppt/slideLayouts/slideLayout1.xml" Id="Rdc16e2b5e2b348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16e2b5e2b348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34cbb7b7445cf" /><Relationship Type="http://schemas.openxmlformats.org/officeDocument/2006/relationships/image" Target="/ppt/media/image.png" Id="R3ecf407a9ba84272" /><Relationship Type="http://schemas.openxmlformats.org/officeDocument/2006/relationships/notesSlide" Target="/ppt/notesSlides/notesSlide1.xml" Id="Ref9d98ca0d3640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b4931fa6348df" /><Relationship Type="http://schemas.openxmlformats.org/officeDocument/2006/relationships/notesSlide" Target="/ppt/notesSlides/notesSlide2.xml" Id="R01479d5258a548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b34b365dc4530" /><Relationship Type="http://schemas.openxmlformats.org/officeDocument/2006/relationships/notesSlide" Target="/ppt/notesSlides/notesSlide3.xml" Id="Rb8a91a5b870d4d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432b9a22d4b10" /><Relationship Type="http://schemas.openxmlformats.org/officeDocument/2006/relationships/notesSlide" Target="/ppt/notesSlides/notesSlide4.xml" Id="Rc77f284b81754e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4062592e84f72" /><Relationship Type="http://schemas.openxmlformats.org/officeDocument/2006/relationships/notesSlide" Target="/ppt/notesSlides/notesSlide5.xml" Id="R70c201d2e7474f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719ee189b4eeb" /><Relationship Type="http://schemas.openxmlformats.org/officeDocument/2006/relationships/notesSlide" Target="/ppt/notesSlides/notesSlide6.xml" Id="Rc334c391dbbf44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908d3bfc54b2f" /><Relationship Type="http://schemas.openxmlformats.org/officeDocument/2006/relationships/notesSlide" Target="/ppt/notesSlides/notesSlide7.xml" Id="Re0751585c01240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89221b40d4f3f" /><Relationship Type="http://schemas.openxmlformats.org/officeDocument/2006/relationships/notesSlide" Target="/ppt/notesSlides/notesSlide8.xml" Id="R738bf3d8dcf64a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06ee0a590457d" /><Relationship Type="http://schemas.openxmlformats.org/officeDocument/2006/relationships/notesSlide" Target="/ppt/notesSlides/notesSlide9.xml" Id="R54039406eb1444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510ed5d294a1a" /><Relationship Type="http://schemas.openxmlformats.org/officeDocument/2006/relationships/notesSlide" Target="/ppt/notesSlides/notesSlide10.xml" Id="R8273fb943b6a45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1d8e2da2f4f6f" /><Relationship Type="http://schemas.openxmlformats.org/officeDocument/2006/relationships/notesSlide" Target="/ppt/notesSlides/notesSlide11.xml" Id="R192075ce21954b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3498bd67b4842" /><Relationship Type="http://schemas.openxmlformats.org/officeDocument/2006/relationships/notesSlide" Target="/ppt/notesSlides/notesSlide12.xml" Id="Rf6f514aa9f0e49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3a06c6ffd47e0" /><Relationship Type="http://schemas.openxmlformats.org/officeDocument/2006/relationships/notesSlide" Target="/ppt/notesSlides/notesSlide13.xml" Id="R7d532cf545a842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8532f44394bee" /><Relationship Type="http://schemas.openxmlformats.org/officeDocument/2006/relationships/notesSlide" Target="/ppt/notesSlides/notesSlide14.xml" Id="Rc7104190d03e49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8AFF95A6-2C71-46E1-8EB5-E098CF46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1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AI Office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D34D1CD-A567-4095-B625-27D42B74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35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系统架构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E8891F4-D0FD-49DC-B905-FD6F06B5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把变化限制在局部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F5C47145-998F-41E6-B6E6-7415E80B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稳定内核 · 明确契约 · 可扩展内容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f407a9ba84272"/>
          <a:stretch xmlns:a="http://schemas.openxmlformats.org/drawingml/2006/main"/>
        </p:blipFill>
        <p:spPr>
          <a:xfrm xmlns:a="http://schemas.openxmlformats.org/drawingml/2006/main">
            <a:off x="6404145" y="1466850"/>
            <a:ext cx="5403510" cy="4324350"/>
          </a:xfrm>
          <a:prstGeom xmlns:a="http://schemas.openxmlformats.org/drawingml/2006/main" prst="rect">
            <a:avLst/>
          </a:prstGeom>
        </p:spPr>
      </p:pic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5938521-4B99-419F-BE61-ABD6675D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目标架构方案  /  2026.09.30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6637BD7-02C5-4B4B-BA0D-5FE7791C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732000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7">
            <a:extLst xmlns:a="http://schemas.openxmlformats.org/drawingml/2006/main">
              <a:ext uri="{FF2B5EF4-FFF2-40B4-BE49-F238E27FC236}">
                <a16:creationId xmlns:a16="http://schemas.microsoft.com/office/drawing/2014/main" id="{48FA797B-032C-4289-B300-D1945CDB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设计主线：按变化原因划分边界</a:t>
            </a:r>
          </a:p>
        </p:txBody>
      </p:sp>
      <p:sp>
        <p:nvSpPr>
          <p:cNvPr id="2" name="text-8">
            <a:extLst xmlns:a="http://schemas.openxmlformats.org/drawingml/2006/main">
              <a:ext uri="{FF2B5EF4-FFF2-40B4-BE49-F238E27FC236}">
                <a16:creationId xmlns:a16="http://schemas.microsoft.com/office/drawing/2014/main" id="{D9BB5E3B-A0CC-4E27-9F8C-3DBA1DD1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高频变化发生在边缘，低频且跨场景成立的规则留在中心</a:t>
            </a:r>
          </a:p>
        </p:txBody>
      </p:sp>
      <p:sp>
        <p:nvSpPr>
          <p:cNvPr id="3" name="text-9">
            <a:extLst xmlns:a="http://schemas.openxmlformats.org/drawingml/2006/main">
              <a:ext uri="{FF2B5EF4-FFF2-40B4-BE49-F238E27FC236}">
                <a16:creationId xmlns:a16="http://schemas.microsoft.com/office/drawing/2014/main" id="{C78D036E-44B1-414E-B319-F2DA2A1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4" name="diagram-10">
            <a:extLst xmlns:a="http://schemas.openxmlformats.org/drawingml/2006/main">
              <a:ext uri="{FF2B5EF4-FFF2-40B4-BE49-F238E27FC236}">
                <a16:creationId xmlns:a16="http://schemas.microsoft.com/office/drawing/2014/main" id="{8BD722EA-E4C8-4690-A37F-CCF38142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7258050" cy="857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业务、界面、人物、家具、动作</a:t>
            </a:r>
          </a:p>
        </p:txBody>
      </p:sp>
      <p:sp>
        <p:nvSpPr>
          <p:cNvPr id="5" name="diagram-11">
            <a:extLst xmlns:a="http://schemas.openxmlformats.org/drawingml/2006/main">
              <a:ext uri="{FF2B5EF4-FFF2-40B4-BE49-F238E27FC236}">
                <a16:creationId xmlns:a16="http://schemas.microsoft.com/office/drawing/2014/main" id="{6132BF03-F83A-42DE-8BF2-822F29B0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24200"/>
            <a:ext cx="5353050" cy="8191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E9F2ED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能力、命令、状态与扩展接口</a:t>
            </a:r>
          </a:p>
        </p:txBody>
      </p:sp>
      <p:sp>
        <p:nvSpPr>
          <p:cNvPr id="6" name="diagram-12">
            <a:extLst xmlns:a="http://schemas.openxmlformats.org/drawingml/2006/main">
              <a:ext uri="{FF2B5EF4-FFF2-40B4-BE49-F238E27FC236}">
                <a16:creationId xmlns:a16="http://schemas.microsoft.com/office/drawing/2014/main" id="{A63BEAB5-20D8-4C3A-AF80-04D27088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71975"/>
            <a:ext cx="4400550" cy="857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287A60"/>
          </a:solidFill>
          <a:ln xmlns:a="http://schemas.openxmlformats.org/drawingml/2006/main" w="12383">
            <a:solidFill>
              <a:srgbClr val="287A60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一致性 · 生命周期 · 资源规则</a:t>
            </a:r>
          </a:p>
        </p:txBody>
      </p:sp>
      <p:cxnSp>
        <p:nvCxnSpPr>
          <p:cNvPr id="22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4238625" y="26955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4238625" y="394335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sp>
        <p:nvSpPr>
          <p:cNvPr id="9" name="text-13">
            <a:extLst xmlns:a="http://schemas.openxmlformats.org/drawingml/2006/main">
              <a:ext uri="{FF2B5EF4-FFF2-40B4-BE49-F238E27FC236}">
                <a16:creationId xmlns:a16="http://schemas.microsoft.com/office/drawing/2014/main" id="{CC3AFA31-22FE-42B7-908C-FFE89792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193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边缘</a:t>
            </a:r>
          </a:p>
        </p:txBody>
      </p:sp>
      <p:sp>
        <p:nvSpPr>
          <p:cNvPr id="10" name="text-14">
            <a:extLst xmlns:a="http://schemas.openxmlformats.org/drawingml/2006/main">
              <a:ext uri="{FF2B5EF4-FFF2-40B4-BE49-F238E27FC236}">
                <a16:creationId xmlns:a16="http://schemas.microsoft.com/office/drawing/2014/main" id="{F6F22933-C3D7-491F-80F5-8461F067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860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可以高频替换</a:t>
            </a:r>
          </a:p>
        </p:txBody>
      </p:sp>
      <p:sp>
        <p:nvSpPr>
          <p:cNvPr id="11" name="text-15">
            <a:extLst xmlns:a="http://schemas.openxmlformats.org/drawingml/2006/main">
              <a:ext uri="{FF2B5EF4-FFF2-40B4-BE49-F238E27FC236}">
                <a16:creationId xmlns:a16="http://schemas.microsoft.com/office/drawing/2014/main" id="{29ABA563-9B95-4441-A716-7A92277A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契约</a:t>
            </a:r>
          </a:p>
        </p:txBody>
      </p:sp>
      <p:sp>
        <p:nvSpPr>
          <p:cNvPr id="12" name="text-16">
            <a:extLst xmlns:a="http://schemas.openxmlformats.org/drawingml/2006/main">
              <a:ext uri="{FF2B5EF4-FFF2-40B4-BE49-F238E27FC236}">
                <a16:creationId xmlns:a16="http://schemas.microsoft.com/office/drawing/2014/main" id="{DFB918FB-0768-4795-A382-DC32C477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242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稳定语义，不固定细节</a:t>
            </a:r>
          </a:p>
        </p:txBody>
      </p:sp>
      <p:sp>
        <p:nvSpPr>
          <p:cNvPr id="13" name="text-17">
            <a:extLst xmlns:a="http://schemas.openxmlformats.org/drawingml/2006/main">
              <a:ext uri="{FF2B5EF4-FFF2-40B4-BE49-F238E27FC236}">
                <a16:creationId xmlns:a16="http://schemas.microsoft.com/office/drawing/2014/main" id="{8D56B190-F0C0-40BA-82A8-3F868596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0532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中心</a:t>
            </a:r>
          </a:p>
        </p:txBody>
      </p:sp>
      <p:sp>
        <p:nvSpPr>
          <p:cNvPr id="14" name="text-18">
            <a:extLst xmlns:a="http://schemas.openxmlformats.org/drawingml/2006/main">
              <a:ext uri="{FF2B5EF4-FFF2-40B4-BE49-F238E27FC236}">
                <a16:creationId xmlns:a16="http://schemas.microsoft.com/office/drawing/2014/main" id="{9E980640-7471-4DA6-A19A-C2B83DB4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720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只保留共用不变量</a:t>
            </a:r>
          </a:p>
        </p:txBody>
      </p:sp>
      <p:sp>
        <p:nvSpPr>
          <p:cNvPr id="15" name="text-19">
            <a:extLst xmlns:a="http://schemas.openxmlformats.org/drawingml/2006/main">
              <a:ext uri="{FF2B5EF4-FFF2-40B4-BE49-F238E27FC236}">
                <a16:creationId xmlns:a16="http://schemas.microsoft.com/office/drawing/2014/main" id="{3A028562-5D83-43E8-A606-DC37B7D7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不是追求核心永远不变，而是让每次变化都有明确归属。</a:t>
            </a:r>
          </a:p>
        </p:txBody>
      </p:sp>
    </p:spTree>
    <p:extLst>
      <p:ext uri="{BB962C8B-B14F-4D97-AF65-F5344CB8AC3E}">
        <p14:creationId xmlns:p14="http://schemas.microsoft.com/office/powerpoint/2010/main" val="5630610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20">
            <a:extLst xmlns:a="http://schemas.openxmlformats.org/drawingml/2006/main">
              <a:ext uri="{FF2B5EF4-FFF2-40B4-BE49-F238E27FC236}">
                <a16:creationId xmlns:a16="http://schemas.microsoft.com/office/drawing/2014/main" id="{01436A60-0037-4F23-B04F-A31B8F31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系统边界与三套状态</a:t>
            </a:r>
          </a:p>
        </p:txBody>
      </p:sp>
      <p:sp>
        <p:nvSpPr>
          <p:cNvPr id="2" name="text-21">
            <a:extLst xmlns:a="http://schemas.openxmlformats.org/drawingml/2006/main">
              <a:ext uri="{FF2B5EF4-FFF2-40B4-BE49-F238E27FC236}">
                <a16:creationId xmlns:a16="http://schemas.microsoft.com/office/drawing/2014/main" id="{D2803510-D09D-4673-B056-D1667504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二维场景负责可靠地呈现活动，不代替业务系统执行和认定任务结果</a:t>
            </a:r>
          </a:p>
        </p:txBody>
      </p:sp>
      <p:sp>
        <p:nvSpPr>
          <p:cNvPr id="3" name="text-22">
            <a:extLst xmlns:a="http://schemas.openxmlformats.org/drawingml/2006/main">
              <a:ext uri="{FF2B5EF4-FFF2-40B4-BE49-F238E27FC236}">
                <a16:creationId xmlns:a16="http://schemas.microsoft.com/office/drawing/2014/main" id="{B72C86C5-5CC9-4BBC-A5F3-5984647A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3581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933825"/>
                <a:gridCol w="4705350"/>
              </a:tblGrid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状态领域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唯一权威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典型内容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业务任务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宿主业务系统 / Agent 平台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任务进度、真实结果、交付物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场景活动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场景内核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移动、预约、交互、取消与恢复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动画播放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表现层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当前图片帧、插值、嘴型与特效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23">
            <a:extLst xmlns:a="http://schemas.openxmlformats.org/drawingml/2006/main">
              <a:ext uri="{FF2B5EF4-FFF2-40B4-BE49-F238E27FC236}">
                <a16:creationId xmlns:a16="http://schemas.microsoft.com/office/drawing/2014/main" id="{21E077D2-22C4-4050-8C7B-DBFAAF6C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9595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动画播放完毕 ≠ 场景活动成功 ≠ 业务任务完成</a:t>
            </a:r>
          </a:p>
        </p:txBody>
      </p:sp>
    </p:spTree>
    <p:extLst>
      <p:ext uri="{BB962C8B-B14F-4D97-AF65-F5344CB8AC3E}">
        <p14:creationId xmlns:p14="http://schemas.microsoft.com/office/powerpoint/2010/main" val="1533294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24">
            <a:extLst xmlns:a="http://schemas.openxmlformats.org/drawingml/2006/main">
              <a:ext uri="{FF2B5EF4-FFF2-40B4-BE49-F238E27FC236}">
                <a16:creationId xmlns:a16="http://schemas.microsoft.com/office/drawing/2014/main" id="{B38FD141-BD3A-4266-804B-77CB1136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总体架构</a:t>
            </a:r>
          </a:p>
        </p:txBody>
      </p:sp>
      <p:sp>
        <p:nvSpPr>
          <p:cNvPr id="2" name="text-25">
            <a:extLst xmlns:a="http://schemas.openxmlformats.org/drawingml/2006/main">
              <a:ext uri="{FF2B5EF4-FFF2-40B4-BE49-F238E27FC236}">
                <a16:creationId xmlns:a16="http://schemas.microsoft.com/office/drawing/2014/main" id="{1C369FB5-524F-4E06-A87B-708840D8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运行系统消费已发布的内容包；内容制作系统独立于线上执行</a:t>
            </a:r>
          </a:p>
        </p:txBody>
      </p:sp>
      <p:sp>
        <p:nvSpPr>
          <p:cNvPr id="3" name="text-26">
            <a:extLst xmlns:a="http://schemas.openxmlformats.org/drawingml/2006/main">
              <a:ext uri="{FF2B5EF4-FFF2-40B4-BE49-F238E27FC236}">
                <a16:creationId xmlns:a16="http://schemas.microsoft.com/office/drawing/2014/main" id="{B03BE8F1-B77A-4327-9611-30832508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diagram-27">
            <a:extLst xmlns:a="http://schemas.openxmlformats.org/drawingml/2006/main">
              <a:ext uri="{FF2B5EF4-FFF2-40B4-BE49-F238E27FC236}">
                <a16:creationId xmlns:a16="http://schemas.microsoft.com/office/drawing/2014/main" id="{965391FB-8464-457E-8842-97B49073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496050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业务系统 / Agent / 用户界面</a:t>
            </a:r>
          </a:p>
        </p:txBody>
      </p:sp>
      <p:sp>
        <p:nvSpPr>
          <p:cNvPr id="5" name="diagram-28">
            <a:extLst xmlns:a="http://schemas.openxmlformats.org/drawingml/2006/main">
              <a:ext uri="{FF2B5EF4-FFF2-40B4-BE49-F238E27FC236}">
                <a16:creationId xmlns:a16="http://schemas.microsoft.com/office/drawing/2014/main" id="{0E91C49A-308D-4661-909C-BB971154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6496050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接入适配器 → 命令与查询接口</a:t>
            </a:r>
          </a:p>
        </p:txBody>
      </p:sp>
      <p:sp>
        <p:nvSpPr>
          <p:cNvPr id="6" name="diagram-29">
            <a:extLst xmlns:a="http://schemas.openxmlformats.org/drawingml/2006/main">
              <a:ext uri="{FF2B5EF4-FFF2-40B4-BE49-F238E27FC236}">
                <a16:creationId xmlns:a16="http://schemas.microsoft.com/office/drawing/2014/main" id="{F47A172D-9DF9-4F08-8B3E-4EA1532E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496050" cy="866775"/>
          </a:xfrm>
          <a:prstGeom xmlns:a="http://schemas.openxmlformats.org/drawingml/2006/main" prst="roundRect">
            <a:avLst>
              <a:gd name="adj" fmla="val 3297"/>
            </a:avLst>
          </a:prstGeom>
          <a:solidFill xmlns:a="http://schemas.openxmlformats.org/drawingml/2006/main">
            <a:srgbClr val="287A60"/>
          </a:solidFill>
          <a:ln xmlns:a="http://schemas.openxmlformats.org/drawingml/2006/main" w="12383">
            <a:solidFill>
              <a:srgbClr val="287A60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场景内核</a:t>
            </a:r>
          </a:p>
          <a:p xmlns:a="http://schemas.openxmlformats.org/drawingml/2006/main">
            <a:pPr algn="ctr">
              <a:defRPr sz="21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状态、活动、占用、合法性</a:t>
            </a:r>
          </a:p>
        </p:txBody>
      </p:sp>
      <p:sp>
        <p:nvSpPr>
          <p:cNvPr id="7" name="diagram-30">
            <a:extLst xmlns:a="http://schemas.openxmlformats.org/drawingml/2006/main">
              <a:ext uri="{FF2B5EF4-FFF2-40B4-BE49-F238E27FC236}">
                <a16:creationId xmlns:a16="http://schemas.microsoft.com/office/drawing/2014/main" id="{6E1D2215-BA68-406A-955E-ED67399D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6496050" cy="638175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状态与事件 → 渲染器和交互界面</a:t>
            </a:r>
          </a:p>
        </p:txBody>
      </p:sp>
      <p:cxnSp>
        <p:nvCxnSpPr>
          <p:cNvPr id="25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3857625" y="23050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857625" y="3352800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857625" y="46672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sp>
        <p:nvSpPr>
          <p:cNvPr id="11" name="diagram-31">
            <a:extLst xmlns:a="http://schemas.openxmlformats.org/drawingml/2006/main">
              <a:ext uri="{FF2B5EF4-FFF2-40B4-BE49-F238E27FC236}">
                <a16:creationId xmlns:a16="http://schemas.microsoft.com/office/drawing/2014/main" id="{D9BE23EA-93FF-46A1-9DE5-C3690E06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95450"/>
            <a:ext cx="3314700" cy="8382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内容制作工具</a:t>
            </a:r>
          </a:p>
          <a:p xmlns:a="http://schemas.openxmlformats.org/drawingml/2006/main">
            <a:pPr algn="ctr">
              <a:def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编辑、审计、预览、验收</a:t>
            </a:r>
          </a:p>
        </p:txBody>
      </p:sp>
      <p:sp>
        <p:nvSpPr>
          <p:cNvPr id="12" name="diagram-32">
            <a:extLst xmlns:a="http://schemas.openxmlformats.org/drawingml/2006/main">
              <a:ext uri="{FF2B5EF4-FFF2-40B4-BE49-F238E27FC236}">
                <a16:creationId xmlns:a16="http://schemas.microsoft.com/office/drawing/2014/main" id="{F587D9EF-C74F-4AB8-949C-AF35115E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71900"/>
            <a:ext cx="3314700" cy="89535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9F2ED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已发布内容包</a:t>
            </a:r>
          </a:p>
          <a:p xmlns:a="http://schemas.openxmlformats.org/drawingml/2006/main">
            <a:pPr algn="ctr">
              <a:defRPr sz="1950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定义、行为、视觉资源</a:t>
            </a:r>
          </a:p>
        </p:txBody>
      </p:sp>
      <p:cxnSp>
        <p:nvCxnSpPr>
          <p:cNvPr id="30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925050" y="253365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sp>
        <p:nvSpPr>
          <p:cNvPr id="14" name="text-33">
            <a:extLst xmlns:a="http://schemas.openxmlformats.org/drawingml/2006/main">
              <a:ext uri="{FF2B5EF4-FFF2-40B4-BE49-F238E27FC236}">
                <a16:creationId xmlns:a16="http://schemas.microsoft.com/office/drawing/2014/main" id="{3E5E4E01-B080-4577-8122-577DA2E1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241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版本化发布</a:t>
            </a:r>
          </a:p>
        </p:txBody>
      </p:sp>
      <p:cxnSp>
        <p:nvCxnSpPr>
          <p:cNvPr id="32" name=""/>
          <p:cNvCxnSpPr>
            <a:stCxn xmlns:a="http://schemas.openxmlformats.org/drawingml/2006/main" id="12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105650" y="4219575"/>
            <a:ext cx="1162050" cy="142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sp>
        <p:nvSpPr>
          <p:cNvPr id="16" name="text-34">
            <a:extLst xmlns:a="http://schemas.openxmlformats.org/drawingml/2006/main">
              <a:ext uri="{FF2B5EF4-FFF2-40B4-BE49-F238E27FC236}">
                <a16:creationId xmlns:a16="http://schemas.microsoft.com/office/drawing/2014/main" id="{4FA0B698-77FB-439D-97C7-91F8B039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743325"/>
            <a:ext cx="914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读取定义</a:t>
            </a:r>
          </a:p>
        </p:txBody>
      </p:sp>
      <p:sp>
        <p:nvSpPr>
          <p:cNvPr id="17" name="text-35">
            <a:extLst xmlns:a="http://schemas.openxmlformats.org/drawingml/2006/main">
              <a:ext uri="{FF2B5EF4-FFF2-40B4-BE49-F238E27FC236}">
                <a16:creationId xmlns:a16="http://schemas.microsoft.com/office/drawing/2014/main" id="{2FB45E45-75DF-40CD-A246-65EA7346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76825"/>
            <a:ext cx="33147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渲染器按需读取视觉资源；</a:t>
            </a:r>
          </a:p>
          <a:p xmlns:a="http://schemas.openxmlformats.org/drawingml/2006/main">
            <a:pPr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制作工具不进入逐帧循环。</a:t>
            </a:r>
          </a:p>
        </p:txBody>
      </p:sp>
    </p:spTree>
    <p:extLst>
      <p:ext uri="{BB962C8B-B14F-4D97-AF65-F5344CB8AC3E}">
        <p14:creationId xmlns:p14="http://schemas.microsoft.com/office/powerpoint/2010/main" val="20451132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36">
            <a:extLst xmlns:a="http://schemas.openxmlformats.org/drawingml/2006/main">
              <a:ext uri="{FF2B5EF4-FFF2-40B4-BE49-F238E27FC236}">
                <a16:creationId xmlns:a16="http://schemas.microsoft.com/office/drawing/2014/main" id="{F23A8C8E-356E-433C-BC12-D04F40E5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稳定内核的最小职责</a:t>
            </a:r>
          </a:p>
        </p:txBody>
      </p:sp>
      <p:sp>
        <p:nvSpPr>
          <p:cNvPr id="2" name="text-37">
            <a:extLst xmlns:a="http://schemas.openxmlformats.org/drawingml/2006/main">
              <a:ext uri="{FF2B5EF4-FFF2-40B4-BE49-F238E27FC236}">
                <a16:creationId xmlns:a16="http://schemas.microsoft.com/office/drawing/2014/main" id="{0E88F879-F6A6-4049-86D8-BFF033B4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中心掌握状态与执行规则，不掌握具体人物、家具和业务名称</a:t>
            </a:r>
          </a:p>
        </p:txBody>
      </p:sp>
      <p:sp>
        <p:nvSpPr>
          <p:cNvPr id="3" name="text-38">
            <a:extLst xmlns:a="http://schemas.openxmlformats.org/drawingml/2006/main">
              <a:ext uri="{FF2B5EF4-FFF2-40B4-BE49-F238E27FC236}">
                <a16:creationId xmlns:a16="http://schemas.microsoft.com/office/drawing/2014/main" id="{C5394333-0A42-4906-A20E-0FF788D5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能力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中心维护的规则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状态一致性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统一写入口、不可变快照、版本冲突处理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命令生命周期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校验、去重、排队、执行、取消、结果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资源协调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原子预约、容量约束、冲突与可靠释放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活动执行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推进阶段、校验到位条件、超时与中断恢复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扩展管理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能力发现、依赖检查、兼容版本和错误语义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9">
            <a:extLst xmlns:a="http://schemas.openxmlformats.org/drawingml/2006/main">
              <a:ext uri="{FF2B5EF4-FFF2-40B4-BE49-F238E27FC236}">
                <a16:creationId xmlns:a16="http://schemas.microsoft.com/office/drawing/2014/main" id="{A770D88E-4B1F-4338-8C20-9AE2FE33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实体、空间、能力、活动、资源：足够小的共用概念。</a:t>
            </a:r>
          </a:p>
        </p:txBody>
      </p:sp>
    </p:spTree>
    <p:extLst>
      <p:ext uri="{BB962C8B-B14F-4D97-AF65-F5344CB8AC3E}">
        <p14:creationId xmlns:p14="http://schemas.microsoft.com/office/powerpoint/2010/main" val="6706397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40">
            <a:extLst xmlns:a="http://schemas.openxmlformats.org/drawingml/2006/main">
              <a:ext uri="{FF2B5EF4-FFF2-40B4-BE49-F238E27FC236}">
                <a16:creationId xmlns:a16="http://schemas.microsoft.com/office/drawing/2014/main" id="{6142BE40-ACD5-4085-94F4-834C72A8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变化归属与影响范围</a:t>
            </a:r>
          </a:p>
        </p:txBody>
      </p:sp>
      <p:sp>
        <p:nvSpPr>
          <p:cNvPr id="2" name="text-41">
            <a:extLst xmlns:a="http://schemas.openxmlformats.org/drawingml/2006/main">
              <a:ext uri="{FF2B5EF4-FFF2-40B4-BE49-F238E27FC236}">
                <a16:creationId xmlns:a16="http://schemas.microsoft.com/office/drawing/2014/main" id="{DF65B94D-840C-4F03-913E-EAB30260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同一个原因引起的修改应聚在一起，不同原因的修改应尽量分开</a:t>
            </a:r>
          </a:p>
        </p:txBody>
      </p:sp>
      <p:sp>
        <p:nvSpPr>
          <p:cNvPr id="3" name="text-42">
            <a:extLst xmlns:a="http://schemas.openxmlformats.org/drawingml/2006/main">
              <a:ext uri="{FF2B5EF4-FFF2-40B4-BE49-F238E27FC236}">
                <a16:creationId xmlns:a16="http://schemas.microsoft.com/office/drawing/2014/main" id="{051511A3-413B-49BA-8992-77DF89E1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095750"/>
                <a:gridCol w="382905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变化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主要修改位置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不应牵动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人物外观与图片帧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角色资源包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调度、寻路、业务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桌椅或新家具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家具定义与物品视图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通用预约和释放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交谈或办公流程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行为插件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命令生命周期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寻路算法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导航适配器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业务状态和动画播放器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接入新的业务或 AI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业务适配器与应用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人物、家具实现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素材质量标准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制作工具与内容规格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线上逐帧循环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3">
            <a:extLst xmlns:a="http://schemas.openxmlformats.org/drawingml/2006/main">
              <a:ext uri="{FF2B5EF4-FFF2-40B4-BE49-F238E27FC236}">
                <a16:creationId xmlns:a16="http://schemas.microsoft.com/office/drawing/2014/main" id="{BDC3E1AB-7DA1-40D2-AA3F-9F0C414A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新增内容需要修改多个无关模块，是边界失效的信号。</a:t>
            </a:r>
          </a:p>
        </p:txBody>
      </p:sp>
    </p:spTree>
    <p:extLst>
      <p:ext uri="{BB962C8B-B14F-4D97-AF65-F5344CB8AC3E}">
        <p14:creationId xmlns:p14="http://schemas.microsoft.com/office/powerpoint/2010/main" val="8276684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44">
            <a:extLst xmlns:a="http://schemas.openxmlformats.org/drawingml/2006/main">
              <a:ext uri="{FF2B5EF4-FFF2-40B4-BE49-F238E27FC236}">
                <a16:creationId xmlns:a16="http://schemas.microsoft.com/office/drawing/2014/main" id="{D7F58272-FFC5-448B-8C4B-371EE89D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三类契约</a:t>
            </a:r>
          </a:p>
        </p:txBody>
      </p:sp>
      <p:sp>
        <p:nvSpPr>
          <p:cNvPr id="2" name="text-45">
            <a:extLst xmlns:a="http://schemas.openxmlformats.org/drawingml/2006/main">
              <a:ext uri="{FF2B5EF4-FFF2-40B4-BE49-F238E27FC236}">
                <a16:creationId xmlns:a16="http://schemas.microsoft.com/office/drawing/2014/main" id="{73A773D7-86D5-44DA-ABE0-180C98E4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固定语义与责任，让数据、算法和素材在边缘变化</a:t>
            </a:r>
          </a:p>
        </p:txBody>
      </p:sp>
      <p:sp>
        <p:nvSpPr>
          <p:cNvPr id="3" name="text-46">
            <a:extLst xmlns:a="http://schemas.openxmlformats.org/drawingml/2006/main">
              <a:ext uri="{FF2B5EF4-FFF2-40B4-BE49-F238E27FC236}">
                <a16:creationId xmlns:a16="http://schemas.microsoft.com/office/drawing/2014/main" id="{A2F18C08-CD9D-47D1-8B6B-899513C6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9800"/>
                <a:gridCol w="5381625"/>
                <a:gridCol w="3381375"/>
              </a:tblGrid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契约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必须明确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允许变化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对外协议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命令身份、参数校验、回执、事件、版本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通信方式、宿主系统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行为契约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参与者、前置条件、资源、阶段、取消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任务流程、交互类型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表现契约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姿态语义、朝向、锚点、能力、进度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图片、帧数、播放实现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7">
            <a:extLst xmlns:a="http://schemas.openxmlformats.org/drawingml/2006/main">
              <a:ext uri="{FF2B5EF4-FFF2-40B4-BE49-F238E27FC236}">
                <a16:creationId xmlns:a16="http://schemas.microsoft.com/office/drawing/2014/main" id="{90E3C404-C005-4603-BF61-0A34BB9E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81675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扩展参数的 Schema 由插件提供；中心不维护不断膨胀的动作枚举。</a:t>
            </a:r>
          </a:p>
        </p:txBody>
      </p:sp>
    </p:spTree>
    <p:extLst>
      <p:ext uri="{BB962C8B-B14F-4D97-AF65-F5344CB8AC3E}">
        <p14:creationId xmlns:p14="http://schemas.microsoft.com/office/powerpoint/2010/main" val="2082507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48">
            <a:extLst xmlns:a="http://schemas.openxmlformats.org/drawingml/2006/main">
              <a:ext uri="{FF2B5EF4-FFF2-40B4-BE49-F238E27FC236}">
                <a16:creationId xmlns:a16="http://schemas.microsoft.com/office/drawing/2014/main" id="{BDA256C8-EB84-49A4-AC12-38616543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交互采用声明与统一执行</a:t>
            </a:r>
          </a:p>
        </p:txBody>
      </p:sp>
      <p:sp>
        <p:nvSpPr>
          <p:cNvPr id="2" name="text-49">
            <a:extLst xmlns:a="http://schemas.openxmlformats.org/drawingml/2006/main">
              <a:ext uri="{FF2B5EF4-FFF2-40B4-BE49-F238E27FC236}">
                <a16:creationId xmlns:a16="http://schemas.microsoft.com/office/drawing/2014/main" id="{EC20D0CF-77B2-4FBB-BB5E-55EBE86A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示例：人物使用电脑。内容描述意图，内核负责执行约束</a:t>
            </a:r>
          </a:p>
        </p:txBody>
      </p:sp>
      <p:sp>
        <p:nvSpPr>
          <p:cNvPr id="3" name="text-50">
            <a:extLst xmlns:a="http://schemas.openxmlformats.org/drawingml/2006/main">
              <a:ext uri="{FF2B5EF4-FFF2-40B4-BE49-F238E27FC236}">
                <a16:creationId xmlns:a16="http://schemas.microsoft.com/office/drawing/2014/main" id="{C60F5CC4-E48D-42D4-80BC-68F6590A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diagram-51">
            <a:extLst xmlns:a="http://schemas.openxmlformats.org/drawingml/2006/main">
              <a:ext uri="{FF2B5EF4-FFF2-40B4-BE49-F238E27FC236}">
                <a16:creationId xmlns:a16="http://schemas.microsoft.com/office/drawing/2014/main" id="{715BBCC4-033B-4B43-9C21-470C8D53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638300" cy="790575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检查兼容</a:t>
            </a:r>
          </a:p>
        </p:txBody>
      </p:sp>
      <p:sp>
        <p:nvSpPr>
          <p:cNvPr id="5" name="diagram-52">
            <a:extLst xmlns:a="http://schemas.openxmlformats.org/drawingml/2006/main">
              <a:ext uri="{FF2B5EF4-FFF2-40B4-BE49-F238E27FC236}">
                <a16:creationId xmlns:a16="http://schemas.microsoft.com/office/drawing/2014/main" id="{58E79DC6-D2CC-4F64-8785-6E8F86EE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95525"/>
            <a:ext cx="1638300" cy="790575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预约资源</a:t>
            </a:r>
          </a:p>
        </p:txBody>
      </p:sp>
      <p:sp>
        <p:nvSpPr>
          <p:cNvPr id="6" name="diagram-53">
            <a:extLst xmlns:a="http://schemas.openxmlformats.org/drawingml/2006/main">
              <a:ext uri="{FF2B5EF4-FFF2-40B4-BE49-F238E27FC236}">
                <a16:creationId xmlns:a16="http://schemas.microsoft.com/office/drawing/2014/main" id="{CFF3BF78-233D-41CB-81F4-C5F38519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95525"/>
            <a:ext cx="1638300" cy="790575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执行移动</a:t>
            </a:r>
          </a:p>
        </p:txBody>
      </p:sp>
      <p:sp>
        <p:nvSpPr>
          <p:cNvPr id="7" name="diagram-54">
            <a:extLst xmlns:a="http://schemas.openxmlformats.org/drawingml/2006/main">
              <a:ext uri="{FF2B5EF4-FFF2-40B4-BE49-F238E27FC236}">
                <a16:creationId xmlns:a16="http://schemas.microsoft.com/office/drawing/2014/main" id="{957468AB-0774-4599-8CFC-4408F7B1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95525"/>
            <a:ext cx="1638300" cy="790575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到位复核</a:t>
            </a:r>
          </a:p>
        </p:txBody>
      </p:sp>
      <p:sp>
        <p:nvSpPr>
          <p:cNvPr id="8" name="diagram-55">
            <a:extLst xmlns:a="http://schemas.openxmlformats.org/drawingml/2006/main">
              <a:ext uri="{FF2B5EF4-FFF2-40B4-BE49-F238E27FC236}">
                <a16:creationId xmlns:a16="http://schemas.microsoft.com/office/drawing/2014/main" id="{9519B631-A238-4052-8DB0-4BFAA975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95525"/>
            <a:ext cx="1638300" cy="790575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9F2ED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进入使用</a:t>
            </a:r>
          </a:p>
        </p:txBody>
      </p:sp>
      <p:sp>
        <p:nvSpPr>
          <p:cNvPr id="9" name="diagram-56">
            <a:extLst xmlns:a="http://schemas.openxmlformats.org/drawingml/2006/main">
              <a:ext uri="{FF2B5EF4-FFF2-40B4-BE49-F238E27FC236}">
                <a16:creationId xmlns:a16="http://schemas.microsoft.com/office/drawing/2014/main" id="{1D37BFE8-8A24-4D9D-A4F4-6471FE06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95525"/>
            <a:ext cx="1638300" cy="790575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离开释放</a:t>
            </a:r>
          </a:p>
        </p:txBody>
      </p:sp>
      <p:cxnSp>
        <p:nvCxnSpPr>
          <p:cNvPr id="3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247900" y="2690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14800" y="2690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81700" y="2690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848600" y="2690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715500" y="2690813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sp>
        <p:nvSpPr>
          <p:cNvPr id="15" name="text-57">
            <a:extLst xmlns:a="http://schemas.openxmlformats.org/drawingml/2006/main">
              <a:ext uri="{FF2B5EF4-FFF2-40B4-BE49-F238E27FC236}">
                <a16:creationId xmlns:a16="http://schemas.microsoft.com/office/drawing/2014/main" id="{058257AF-50E6-41F2-99C4-1BA4569F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姿态与能力</a:t>
            </a:r>
          </a:p>
          <a:p xmlns:a="http://schemas.openxmlformats.org/drawingml/2006/main">
            <a:pPr algn="ctr"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是否匹配</a:t>
            </a:r>
          </a:p>
        </p:txBody>
      </p:sp>
      <p:sp>
        <p:nvSpPr>
          <p:cNvPr id="16" name="text-58">
            <a:extLst xmlns:a="http://schemas.openxmlformats.org/drawingml/2006/main">
              <a:ext uri="{FF2B5EF4-FFF2-40B4-BE49-F238E27FC236}">
                <a16:creationId xmlns:a16="http://schemas.microsoft.com/office/drawing/2014/main" id="{4655E98A-9F22-4AA8-9F47-54E0CE50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52800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使用位置</a:t>
            </a:r>
          </a:p>
          <a:p xmlns:a="http://schemas.openxmlformats.org/drawingml/2006/main">
            <a:pPr algn="ctr"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是否可用</a:t>
            </a:r>
          </a:p>
        </p:txBody>
      </p:sp>
      <p:sp>
        <p:nvSpPr>
          <p:cNvPr id="17" name="text-59">
            <a:extLst xmlns:a="http://schemas.openxmlformats.org/drawingml/2006/main">
              <a:ext uri="{FF2B5EF4-FFF2-40B4-BE49-F238E27FC236}">
                <a16:creationId xmlns:a16="http://schemas.microsoft.com/office/drawing/2014/main" id="{9314DF3C-872E-4873-8FBE-2AA453AB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52800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遇阻重规划</a:t>
            </a:r>
          </a:p>
          <a:p xmlns:a="http://schemas.openxmlformats.org/drawingml/2006/main">
            <a:pPr algn="ctr"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禁止穿越</a:t>
            </a:r>
          </a:p>
        </p:txBody>
      </p:sp>
      <p:sp>
        <p:nvSpPr>
          <p:cNvPr id="18" name="text-60">
            <a:extLst xmlns:a="http://schemas.openxmlformats.org/drawingml/2006/main">
              <a:ext uri="{FF2B5EF4-FFF2-40B4-BE49-F238E27FC236}">
                <a16:creationId xmlns:a16="http://schemas.microsoft.com/office/drawing/2014/main" id="{121B9EB7-BF6F-434D-A0FA-D4A4C742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52800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位置、朝向</a:t>
            </a:r>
          </a:p>
          <a:p xmlns:a="http://schemas.openxmlformats.org/drawingml/2006/main">
            <a:pPr algn="ctr"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占用与版本</a:t>
            </a:r>
          </a:p>
        </p:txBody>
      </p:sp>
      <p:sp>
        <p:nvSpPr>
          <p:cNvPr id="19" name="text-61">
            <a:extLst xmlns:a="http://schemas.openxmlformats.org/drawingml/2006/main">
              <a:ext uri="{FF2B5EF4-FFF2-40B4-BE49-F238E27FC236}">
                <a16:creationId xmlns:a16="http://schemas.microsoft.com/office/drawing/2014/main" id="{378A2718-9C53-45F2-A1C1-F006350F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发布工作状态</a:t>
            </a:r>
          </a:p>
          <a:p xmlns:a="http://schemas.openxmlformats.org/drawingml/2006/main">
            <a:pPr algn="ctr"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表现层播放</a:t>
            </a:r>
          </a:p>
        </p:txBody>
      </p:sp>
      <p:sp>
        <p:nvSpPr>
          <p:cNvPr id="20" name="text-62">
            <a:extLst xmlns:a="http://schemas.openxmlformats.org/drawingml/2006/main">
              <a:ext uri="{FF2B5EF4-FFF2-40B4-BE49-F238E27FC236}">
                <a16:creationId xmlns:a16="http://schemas.microsoft.com/office/drawing/2014/main" id="{078B5F34-25BA-4670-B5E5-F83D9A7F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52800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结束或取消</a:t>
            </a:r>
          </a:p>
          <a:p xmlns:a="http://schemas.openxmlformats.org/drawingml/2006/main">
            <a:pPr algn="ctr"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安全退出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E80E2-1853-40C7-B68C-A38E5A2D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7677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DC"/>
            </a:solidFill>
            <a:prstDash val="solid"/>
          </a:ln>
        </p:spPr>
      </p:sp>
      <p:sp>
        <p:nvSpPr>
          <p:cNvPr id="22" name="text-63">
            <a:extLst xmlns:a="http://schemas.openxmlformats.org/drawingml/2006/main">
              <a:ext uri="{FF2B5EF4-FFF2-40B4-BE49-F238E27FC236}">
                <a16:creationId xmlns:a16="http://schemas.microsoft.com/office/drawing/2014/main" id="{1F5C36A4-746A-47C7-AA03-943890FE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2457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贯穿所有阶段</a:t>
            </a:r>
          </a:p>
        </p:txBody>
      </p:sp>
      <p:sp>
        <p:nvSpPr>
          <p:cNvPr id="23" name="text-64">
            <a:extLst xmlns:a="http://schemas.openxmlformats.org/drawingml/2006/main">
              <a:ext uri="{FF2B5EF4-FFF2-40B4-BE49-F238E27FC236}">
                <a16:creationId xmlns:a16="http://schemas.microsoft.com/office/drawing/2014/main" id="{4C0C67E4-D552-4E34-AB97-A198077F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14900"/>
            <a:ext cx="838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取消 · 超时 · 占用释放 · 可观察事件</a:t>
            </a:r>
          </a:p>
        </p:txBody>
      </p:sp>
      <p:sp>
        <p:nvSpPr>
          <p:cNvPr id="24" name="text-65">
            <a:extLst xmlns:a="http://schemas.openxmlformats.org/drawingml/2006/main">
              <a:ext uri="{FF2B5EF4-FFF2-40B4-BE49-F238E27FC236}">
                <a16:creationId xmlns:a16="http://schemas.microsoft.com/office/drawing/2014/main" id="{7EE3EE5E-5401-46D7-A481-49B0FB44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816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不同的行为计划，共用同一套可靠执行机制。</a:t>
            </a:r>
          </a:p>
        </p:txBody>
      </p:sp>
    </p:spTree>
    <p:extLst>
      <p:ext uri="{BB962C8B-B14F-4D97-AF65-F5344CB8AC3E}">
        <p14:creationId xmlns:p14="http://schemas.microsoft.com/office/powerpoint/2010/main" val="15426263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66">
            <a:extLst xmlns:a="http://schemas.openxmlformats.org/drawingml/2006/main">
              <a:ext uri="{FF2B5EF4-FFF2-40B4-BE49-F238E27FC236}">
                <a16:creationId xmlns:a16="http://schemas.microsoft.com/office/drawing/2014/main" id="{0211C1BE-6770-48AB-B6ED-58C4ECBD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空间规则与视觉接触</a:t>
            </a:r>
          </a:p>
        </p:txBody>
      </p:sp>
      <p:sp>
        <p:nvSpPr>
          <p:cNvPr id="2" name="text-67">
            <a:extLst xmlns:a="http://schemas.openxmlformats.org/drawingml/2006/main">
              <a:ext uri="{FF2B5EF4-FFF2-40B4-BE49-F238E27FC236}">
                <a16:creationId xmlns:a16="http://schemas.microsoft.com/office/drawing/2014/main" id="{E0C7BA74-7669-4EC8-936C-0666FF25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地面逻辑与图片坐标分离，通过明确的交互位置和锚点建立映射</a:t>
            </a:r>
          </a:p>
        </p:txBody>
      </p:sp>
      <p:sp>
        <p:nvSpPr>
          <p:cNvPr id="3" name="text-68">
            <a:extLst xmlns:a="http://schemas.openxmlformats.org/drawingml/2006/main">
              <a:ext uri="{FF2B5EF4-FFF2-40B4-BE49-F238E27FC236}">
                <a16:creationId xmlns:a16="http://schemas.microsoft.com/office/drawing/2014/main" id="{231A47EF-F101-4D2E-BAB7-35B3B4FC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4905375"/>
                <a:gridCol w="3924300"/>
              </a:tblGrid>
              <a:tr h="952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层面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描述内容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主要校验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</a:tr>
              <a:tr h="952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地面空间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整数格位置、底部占地、通道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能否到达、是否碰撞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家具交互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入口、使用位置、朝向、所需姿态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能力兼容、资源容量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图像表现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人物锚点、动作帧、桌面接触点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比例一致、手部接触、遮挡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69">
            <a:extLst xmlns:a="http://schemas.openxmlformats.org/drawingml/2006/main">
              <a:ext uri="{FF2B5EF4-FFF2-40B4-BE49-F238E27FC236}">
                <a16:creationId xmlns:a16="http://schemas.microsoft.com/office/drawing/2014/main" id="{39807F69-6128-4CAB-A29F-DF0FCE8C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逻辑用格，画面用像素；映射集中管理，不逐图添加临时补偿。</a:t>
            </a:r>
          </a:p>
        </p:txBody>
      </p:sp>
    </p:spTree>
    <p:extLst>
      <p:ext uri="{BB962C8B-B14F-4D97-AF65-F5344CB8AC3E}">
        <p14:creationId xmlns:p14="http://schemas.microsoft.com/office/powerpoint/2010/main" val="6302932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70">
            <a:extLst xmlns:a="http://schemas.openxmlformats.org/drawingml/2006/main">
              <a:ext uri="{FF2B5EF4-FFF2-40B4-BE49-F238E27FC236}">
                <a16:creationId xmlns:a16="http://schemas.microsoft.com/office/drawing/2014/main" id="{C1A77C8F-0F12-44D7-A6CC-E2B9E72F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内容制作与运行系统分离</a:t>
            </a:r>
          </a:p>
        </p:txBody>
      </p:sp>
      <p:sp>
        <p:nvSpPr>
          <p:cNvPr id="2" name="text-71">
            <a:extLst xmlns:a="http://schemas.openxmlformats.org/drawingml/2006/main">
              <a:ext uri="{FF2B5EF4-FFF2-40B4-BE49-F238E27FC236}">
                <a16:creationId xmlns:a16="http://schemas.microsoft.com/office/drawing/2014/main" id="{3BEF3647-66C6-4A45-A808-4026877F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高频的素材修订留在制作侧，运行时只消费通过准入的版本</a:t>
            </a:r>
          </a:p>
        </p:txBody>
      </p:sp>
      <p:sp>
        <p:nvSpPr>
          <p:cNvPr id="3" name="text-72">
            <a:extLst xmlns:a="http://schemas.openxmlformats.org/drawingml/2006/main">
              <a:ext uri="{FF2B5EF4-FFF2-40B4-BE49-F238E27FC236}">
                <a16:creationId xmlns:a16="http://schemas.microsoft.com/office/drawing/2014/main" id="{C41EFB1C-065F-4A8F-B17D-42398612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4" name="diagram-73">
            <a:extLst xmlns:a="http://schemas.openxmlformats.org/drawingml/2006/main">
              <a:ext uri="{FF2B5EF4-FFF2-40B4-BE49-F238E27FC236}">
                <a16:creationId xmlns:a16="http://schemas.microsoft.com/office/drawing/2014/main" id="{819C2467-046D-4A67-BF7C-FB65AAA9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638300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母版与模板</a:t>
            </a:r>
          </a:p>
        </p:txBody>
      </p:sp>
      <p:sp>
        <p:nvSpPr>
          <p:cNvPr id="5" name="diagram-74">
            <a:extLst xmlns:a="http://schemas.openxmlformats.org/drawingml/2006/main">
              <a:ext uri="{FF2B5EF4-FFF2-40B4-BE49-F238E27FC236}">
                <a16:creationId xmlns:a16="http://schemas.microsoft.com/office/drawing/2014/main" id="{DEAF3A64-5CB5-4E9A-9A38-E0F1159A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0"/>
            <a:ext cx="1638300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候选素材</a:t>
            </a:r>
          </a:p>
        </p:txBody>
      </p:sp>
      <p:sp>
        <p:nvSpPr>
          <p:cNvPr id="6" name="diagram-75">
            <a:extLst xmlns:a="http://schemas.openxmlformats.org/drawingml/2006/main">
              <a:ext uri="{FF2B5EF4-FFF2-40B4-BE49-F238E27FC236}">
                <a16:creationId xmlns:a16="http://schemas.microsoft.com/office/drawing/2014/main" id="{D02CCAD0-3DCE-47D6-8642-E7FB696B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1638300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自动审计</a:t>
            </a:r>
          </a:p>
        </p:txBody>
      </p:sp>
      <p:sp>
        <p:nvSpPr>
          <p:cNvPr id="7" name="diagram-76">
            <a:extLst xmlns:a="http://schemas.openxmlformats.org/drawingml/2006/main">
              <a:ext uri="{FF2B5EF4-FFF2-40B4-BE49-F238E27FC236}">
                <a16:creationId xmlns:a16="http://schemas.microsoft.com/office/drawing/2014/main" id="{60C17078-05AB-44E0-92FF-9269A717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90750"/>
            <a:ext cx="1638300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隔离预览</a:t>
            </a:r>
          </a:p>
        </p:txBody>
      </p:sp>
      <p:sp>
        <p:nvSpPr>
          <p:cNvPr id="8" name="diagram-77">
            <a:extLst xmlns:a="http://schemas.openxmlformats.org/drawingml/2006/main">
              <a:ext uri="{FF2B5EF4-FFF2-40B4-BE49-F238E27FC236}">
                <a16:creationId xmlns:a16="http://schemas.microsoft.com/office/drawing/2014/main" id="{66026DBD-34FC-4811-B32C-176AE323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1638300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视觉验收</a:t>
            </a:r>
          </a:p>
        </p:txBody>
      </p:sp>
      <p:sp>
        <p:nvSpPr>
          <p:cNvPr id="9" name="diagram-78">
            <a:extLst xmlns:a="http://schemas.openxmlformats.org/drawingml/2006/main">
              <a:ext uri="{FF2B5EF4-FFF2-40B4-BE49-F238E27FC236}">
                <a16:creationId xmlns:a16="http://schemas.microsoft.com/office/drawing/2014/main" id="{29DFD092-84D0-47A2-A4AA-A4118605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90750"/>
            <a:ext cx="1638300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9F2ED"/>
          </a:solidFill>
          <a:ln xmlns:a="http://schemas.openxmlformats.org/drawingml/2006/main" w="12383">
            <a:solidFill>
              <a:srgbClr val="D9E0DC"/>
            </a:solidFill>
          </a:ln>
        </p:spPr>
        <p:txBody>
          <a:bodyPr xmlns:a="http://schemas.openxmlformats.org/drawingml/2006/main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发布内容包</a:t>
            </a:r>
          </a:p>
        </p:txBody>
      </p:sp>
      <p:cxnSp>
        <p:nvCxnSpPr>
          <p:cNvPr id="3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24790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1480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8170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84860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71550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A60"/>
            </a:solidFill>
            <a:prstDash val="solid"/>
            <a:tailEnd type="triangle" w="sm" len="sm"/>
          </a:ln>
        </p:spPr>
      </p:cxnSp>
      <p:sp>
        <p:nvSpPr>
          <p:cNvPr id="15" name="text-79">
            <a:extLst xmlns:a="http://schemas.openxmlformats.org/drawingml/2006/main">
              <a:ext uri="{FF2B5EF4-FFF2-40B4-BE49-F238E27FC236}">
                <a16:creationId xmlns:a16="http://schemas.microsoft.com/office/drawing/2014/main" id="{BEE0A9BE-606B-4EF0-9B06-37C92BCF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制作侧</a:t>
            </a:r>
          </a:p>
        </p:txBody>
      </p:sp>
      <p:sp>
        <p:nvSpPr>
          <p:cNvPr id="16" name="text-80">
            <a:extLst xmlns:a="http://schemas.openxmlformats.org/drawingml/2006/main">
              <a:ext uri="{FF2B5EF4-FFF2-40B4-BE49-F238E27FC236}">
                <a16:creationId xmlns:a16="http://schemas.microsoft.com/office/drawing/2014/main" id="{C44D2DD6-04B8-474C-B70A-979D39DC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0425"/>
            <a:ext cx="5314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画布、比例、局部变化、动作连续性</a:t>
            </a:r>
          </a:p>
        </p:txBody>
      </p:sp>
      <p:sp>
        <p:nvSpPr>
          <p:cNvPr id="17" name="text-81">
            <a:extLst xmlns:a="http://schemas.openxmlformats.org/drawingml/2006/main">
              <a:ext uri="{FF2B5EF4-FFF2-40B4-BE49-F238E27FC236}">
                <a16:creationId xmlns:a16="http://schemas.microsoft.com/office/drawing/2014/main" id="{A4AF453A-D8DB-43EA-A2F0-A90963E4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537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自动检查可测量错误，不自动判断动作好看。</a:t>
            </a:r>
          </a:p>
        </p:txBody>
      </p:sp>
      <p:sp>
        <p:nvSpPr>
          <p:cNvPr id="18" name="text-82">
            <a:extLst xmlns:a="http://schemas.openxmlformats.org/drawingml/2006/main">
              <a:ext uri="{FF2B5EF4-FFF2-40B4-BE49-F238E27FC236}">
                <a16:creationId xmlns:a16="http://schemas.microsoft.com/office/drawing/2014/main" id="{E5AF5C99-98AD-4C49-916B-F055DA4A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0425"/>
            <a:ext cx="514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验收记录绑定素材与规则版本</a:t>
            </a:r>
          </a:p>
        </p:txBody>
      </p:sp>
      <p:sp>
        <p:nvSpPr>
          <p:cNvPr id="19" name="text-83">
            <a:extLst xmlns:a="http://schemas.openxmlformats.org/drawingml/2006/main">
              <a:ext uri="{FF2B5EF4-FFF2-40B4-BE49-F238E27FC236}">
                <a16:creationId xmlns:a16="http://schemas.microsoft.com/office/drawing/2014/main" id="{D8002B80-CFBF-4149-ADB8-AE429F00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修改后重新验收；发布失败可恢复旧版本。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600297-93D0-4FC1-AFA4-A6219412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DC"/>
            </a:solidFill>
            <a:prstDash val="solid"/>
          </a:ln>
        </p:spPr>
      </p:sp>
      <p:sp>
        <p:nvSpPr>
          <p:cNvPr id="21" name="text-84">
            <a:extLst xmlns:a="http://schemas.openxmlformats.org/drawingml/2006/main">
              <a:ext uri="{FF2B5EF4-FFF2-40B4-BE49-F238E27FC236}">
                <a16:creationId xmlns:a16="http://schemas.microsoft.com/office/drawing/2014/main" id="{D339CA83-DE1C-4EC9-9078-17A28360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运行侧</a:t>
            </a:r>
          </a:p>
        </p:txBody>
      </p:sp>
      <p:sp>
        <p:nvSpPr>
          <p:cNvPr id="22" name="text-85">
            <a:extLst xmlns:a="http://schemas.openxmlformats.org/drawingml/2006/main">
              <a:ext uri="{FF2B5EF4-FFF2-40B4-BE49-F238E27FC236}">
                <a16:creationId xmlns:a16="http://schemas.microsoft.com/office/drawing/2014/main" id="{C7FD3F3F-2EF1-44D9-94D5-747FB72E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29225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加载与兼容校验 → 缓存资源 → 采样与绘制</a:t>
            </a:r>
          </a:p>
        </p:txBody>
      </p:sp>
      <p:sp>
        <p:nvSpPr>
          <p:cNvPr id="23" name="text-86">
            <a:extLst xmlns:a="http://schemas.openxmlformats.org/drawingml/2006/main">
              <a:ext uri="{FF2B5EF4-FFF2-40B4-BE49-F238E27FC236}">
                <a16:creationId xmlns:a16="http://schemas.microsoft.com/office/drawing/2014/main" id="{783CA745-01F1-4493-B533-9C310364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7626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质量工具不进入渲染循环，也不修改调度与导航。</a:t>
            </a:r>
          </a:p>
        </p:txBody>
      </p:sp>
    </p:spTree>
    <p:extLst>
      <p:ext uri="{BB962C8B-B14F-4D97-AF65-F5344CB8AC3E}">
        <p14:creationId xmlns:p14="http://schemas.microsoft.com/office/powerpoint/2010/main" val="6909597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87">
            <a:extLst xmlns:a="http://schemas.openxmlformats.org/drawingml/2006/main">
              <a:ext uri="{FF2B5EF4-FFF2-40B4-BE49-F238E27FC236}">
                <a16:creationId xmlns:a16="http://schemas.microsoft.com/office/drawing/2014/main" id="{0EB4D27C-9FB6-4241-8C85-CC3F5562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模块、适配器与插件</a:t>
            </a:r>
          </a:p>
        </p:txBody>
      </p:sp>
      <p:sp>
        <p:nvSpPr>
          <p:cNvPr id="2" name="text-88">
            <a:extLst xmlns:a="http://schemas.openxmlformats.org/drawingml/2006/main">
              <a:ext uri="{FF2B5EF4-FFF2-40B4-BE49-F238E27FC236}">
                <a16:creationId xmlns:a16="http://schemas.microsoft.com/office/drawing/2014/main" id="{CEFC65AF-3B90-4C29-B096-01538CA1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不同机制解决不同问题，不把所有功能都包装成可安装插件</a:t>
            </a:r>
          </a:p>
        </p:txBody>
      </p:sp>
      <p:sp>
        <p:nvSpPr>
          <p:cNvPr id="3" name="text-89">
            <a:extLst xmlns:a="http://schemas.openxmlformats.org/drawingml/2006/main">
              <a:ext uri="{FF2B5EF4-FFF2-40B4-BE49-F238E27FC236}">
                <a16:creationId xmlns:a16="http://schemas.microsoft.com/office/drawing/2014/main" id="{46B55212-E08E-4849-91C5-D7C7106A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143375"/>
                <a:gridCol w="4495800"/>
              </a:tblGrid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机制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适合承载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限制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普通模块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稳定的数据与执行规则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保持小接口和单一变化原因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适配器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导航、通信、渲染、存储实现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接口注入，不反向依赖具体实现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数据内容包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人物、家具、地图、动作能力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先校验再加载，不执行任意代码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可信代码插件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复杂行为与专用物品视图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声明能力，不直接修改权威状态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90">
            <a:extLst xmlns:a="http://schemas.openxmlformats.org/drawingml/2006/main">
              <a:ext uri="{FF2B5EF4-FFF2-40B4-BE49-F238E27FC236}">
                <a16:creationId xmlns:a16="http://schemas.microsoft.com/office/drawing/2014/main" id="{2DA9EC46-2EDF-44C2-BC59-AD1410CE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3882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远程不可信代码的权限与沙箱是独立工程，不混入首版核心。</a:t>
            </a:r>
          </a:p>
        </p:txBody>
      </p:sp>
    </p:spTree>
    <p:extLst>
      <p:ext uri="{BB962C8B-B14F-4D97-AF65-F5344CB8AC3E}">
        <p14:creationId xmlns:p14="http://schemas.microsoft.com/office/powerpoint/2010/main" val="3695229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91">
            <a:extLst xmlns:a="http://schemas.openxmlformats.org/drawingml/2006/main">
              <a:ext uri="{FF2B5EF4-FFF2-40B4-BE49-F238E27FC236}">
                <a16:creationId xmlns:a16="http://schemas.microsoft.com/office/drawing/2014/main" id="{2A2EAC4C-D688-4C98-A039-1D092536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建议目录与依赖约束</a:t>
            </a:r>
          </a:p>
        </p:txBody>
      </p:sp>
      <p:sp>
        <p:nvSpPr>
          <p:cNvPr id="2" name="text-92">
            <a:extLst xmlns:a="http://schemas.openxmlformats.org/drawingml/2006/main">
              <a:ext uri="{FF2B5EF4-FFF2-40B4-BE49-F238E27FC236}">
                <a16:creationId xmlns:a16="http://schemas.microsoft.com/office/drawing/2014/main" id="{E4A7CA9F-C0C7-4A52-819E-B46055DF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先在单仓库内建立边界，稳定后再决定哪些模块发布为 npm 包</a:t>
            </a:r>
          </a:p>
        </p:txBody>
      </p:sp>
      <p:sp>
        <p:nvSpPr>
          <p:cNvPr id="3" name="text-93">
            <a:extLst xmlns:a="http://schemas.openxmlformats.org/drawingml/2006/main">
              <a:ext uri="{FF2B5EF4-FFF2-40B4-BE49-F238E27FC236}">
                <a16:creationId xmlns:a16="http://schemas.microsoft.com/office/drawing/2014/main" id="{316F2D0A-1DFA-4D6B-B487-5CE1DD20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4067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3781425"/>
                <a:gridCol w="371475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目录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承载内容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依赖约束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apps / office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业务界面、宿主集成、模块组装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在这里选择并注入实现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packages / contracts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公共类型、协议、扩展接口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不依赖运行时或表现层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packages / runtime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状态、活动、占用、执行规则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只依赖契约与抽象接口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packages / adapters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导航、通信、渲染、存储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按接口提供实现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content / office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办公室模板、行为和视觉资源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逻辑与视觉分入口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tools / authoring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素材制作、审计、预览、发布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不进入运行时依赖链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94">
            <a:extLst xmlns:a="http://schemas.openxmlformats.org/drawingml/2006/main">
              <a:ext uri="{FF2B5EF4-FFF2-40B4-BE49-F238E27FC236}">
                <a16:creationId xmlns:a16="http://schemas.microsoft.com/office/drawing/2014/main" id="{0EE6B44E-540A-4B72-A640-F38A6FA3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目录边界先于包数量；核心禁止导入业务、UI 和具体资源文件。</a:t>
            </a:r>
          </a:p>
        </p:txBody>
      </p:sp>
    </p:spTree>
    <p:extLst>
      <p:ext uri="{BB962C8B-B14F-4D97-AF65-F5344CB8AC3E}">
        <p14:creationId xmlns:p14="http://schemas.microsoft.com/office/powerpoint/2010/main" val="12734143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95">
            <a:extLst xmlns:a="http://schemas.openxmlformats.org/drawingml/2006/main">
              <a:ext uri="{FF2B5EF4-FFF2-40B4-BE49-F238E27FC236}">
                <a16:creationId xmlns:a16="http://schemas.microsoft.com/office/drawing/2014/main" id="{ECADA89C-291B-4871-ADAA-679EEAD1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渐进落地顺序</a:t>
            </a:r>
          </a:p>
        </p:txBody>
      </p:sp>
      <p:sp>
        <p:nvSpPr>
          <p:cNvPr id="2" name="text-96">
            <a:extLst xmlns:a="http://schemas.openxmlformats.org/drawingml/2006/main">
              <a:ext uri="{FF2B5EF4-FFF2-40B4-BE49-F238E27FC236}">
                <a16:creationId xmlns:a16="http://schemas.microsoft.com/office/drawing/2014/main" id="{A920F413-5845-4B41-9F75-94194FD1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每一步保持可运行，不先搭一套无业务验证的通用框架</a:t>
            </a:r>
          </a:p>
        </p:txBody>
      </p:sp>
      <p:sp>
        <p:nvSpPr>
          <p:cNvPr id="3" name="text-97">
            <a:extLst xmlns:a="http://schemas.openxmlformats.org/drawingml/2006/main">
              <a:ext uri="{FF2B5EF4-FFF2-40B4-BE49-F238E27FC236}">
                <a16:creationId xmlns:a16="http://schemas.microsoft.com/office/drawing/2014/main" id="{309CCAED-03FF-4FA1-B6D1-126497B0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09825"/>
                <a:gridCol w="4476750"/>
                <a:gridCol w="4086225"/>
              </a:tblGrid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实现范围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87A6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验收产物</a:t>
                      </a:r>
                    </a:p>
                  </a:txBody>
                  <a:tcPr marL="152400" marR="133350" marT="95250" marB="95250" anchor="ctr">
                    <a:solidFill>
                      <a:srgbClr val="E9F2ED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  固定语义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三套状态、命令、能力与错误规则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协议示例与契约测试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  打通纵向链路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一人、一件家具、一种完整互动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移动、使用、取消与恢复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  验证变化隔离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第二个人物、家具、行为或宿主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主要新增边缘代码的接入实例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  建立准入与发布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内容工具、兼容测试、目录边界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B2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可复现资源包与贡献指南</a:t>
                      </a:r>
                    </a:p>
                  </a:txBody>
                  <a:tcPr marL="15240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98">
            <a:extLst xmlns:a="http://schemas.openxmlformats.org/drawingml/2006/main">
              <a:ext uri="{FF2B5EF4-FFF2-40B4-BE49-F238E27FC236}">
                <a16:creationId xmlns:a16="http://schemas.microsoft.com/office/drawing/2014/main" id="{BE9AC2A1-9119-4167-9781-D0C94F9D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3882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堵路、并发、取消、缺资源、重启恢复，与正常流程一起验收。</a:t>
            </a:r>
          </a:p>
        </p:txBody>
      </p:sp>
    </p:spTree>
    <p:extLst>
      <p:ext uri="{BB962C8B-B14F-4D97-AF65-F5344CB8AC3E}">
        <p14:creationId xmlns:p14="http://schemas.microsoft.com/office/powerpoint/2010/main" val="8633453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99">
            <a:extLst xmlns:a="http://schemas.openxmlformats.org/drawingml/2006/main">
              <a:ext uri="{FF2B5EF4-FFF2-40B4-BE49-F238E27FC236}">
                <a16:creationId xmlns:a16="http://schemas.microsoft.com/office/drawing/2014/main" id="{8870B10C-EBD6-4083-8D34-38EC3BC1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架构评审的五个问题</a:t>
            </a:r>
          </a:p>
        </p:txBody>
      </p:sp>
      <p:sp>
        <p:nvSpPr>
          <p:cNvPr id="2" name="text-100">
            <a:extLst xmlns:a="http://schemas.openxmlformats.org/drawingml/2006/main">
              <a:ext uri="{FF2B5EF4-FFF2-40B4-BE49-F238E27FC236}">
                <a16:creationId xmlns:a16="http://schemas.microsoft.com/office/drawing/2014/main" id="{6C77EB76-4D5E-4F04-B1BE-B71ECD2A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用真实变更检验边界，而不是用模块数量证明架构先进</a:t>
            </a:r>
          </a:p>
        </p:txBody>
      </p:sp>
      <p:sp>
        <p:nvSpPr>
          <p:cNvPr id="3" name="text-101">
            <a:extLst xmlns:a="http://schemas.openxmlformats.org/drawingml/2006/main">
              <a:ext uri="{FF2B5EF4-FFF2-40B4-BE49-F238E27FC236}">
                <a16:creationId xmlns:a16="http://schemas.microsoft.com/office/drawing/2014/main" id="{BC7ACEFB-A993-45B1-AB71-671112B7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4" name="text-102">
            <a:extLst xmlns:a="http://schemas.openxmlformats.org/drawingml/2006/main">
              <a:ext uri="{FF2B5EF4-FFF2-40B4-BE49-F238E27FC236}">
                <a16:creationId xmlns:a16="http://schemas.microsoft.com/office/drawing/2014/main" id="{84FF51F0-BCB9-449A-A931-34F59B25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619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text-103">
            <a:extLst xmlns:a="http://schemas.openxmlformats.org/drawingml/2006/main">
              <a:ext uri="{FF2B5EF4-FFF2-40B4-BE49-F238E27FC236}">
                <a16:creationId xmlns:a16="http://schemas.microsoft.com/office/drawing/2014/main" id="{DBAAE911-3AB9-4B4A-94F1-336858B4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14500"/>
            <a:ext cx="9906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这次需求为什么变化？</a:t>
            </a:r>
          </a:p>
        </p:txBody>
      </p:sp>
      <p:sp>
        <p:nvSpPr>
          <p:cNvPr id="6" name="text-104">
            <a:extLst xmlns:a="http://schemas.openxmlformats.org/drawingml/2006/main">
              <a:ext uri="{FF2B5EF4-FFF2-40B4-BE49-F238E27FC236}">
                <a16:creationId xmlns:a16="http://schemas.microsoft.com/office/drawing/2014/main" id="{A1E6A0CD-9CD5-468D-9BA2-42561B75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145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外观、流程、算法、业务还是执行规则？</a:t>
            </a:r>
          </a:p>
        </p:txBody>
      </p:sp>
      <p:sp>
        <p:nvSpPr>
          <p:cNvPr id="7" name="text-105">
            <a:extLst xmlns:a="http://schemas.openxmlformats.org/drawingml/2006/main">
              <a:ext uri="{FF2B5EF4-FFF2-40B4-BE49-F238E27FC236}">
                <a16:creationId xmlns:a16="http://schemas.microsoft.com/office/drawing/2014/main" id="{4940C06E-88D9-4644-B65D-BFF7BC6B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57450"/>
            <a:ext cx="619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8" name="text-106">
            <a:extLst xmlns:a="http://schemas.openxmlformats.org/drawingml/2006/main">
              <a:ext uri="{FF2B5EF4-FFF2-40B4-BE49-F238E27FC236}">
                <a16:creationId xmlns:a16="http://schemas.microsoft.com/office/drawing/2014/main" id="{D92A8BB3-58EE-464F-B49C-AF0E1BFE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57450"/>
            <a:ext cx="9906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修改是否集中在明确模块？</a:t>
            </a:r>
          </a:p>
        </p:txBody>
      </p:sp>
      <p:sp>
        <p:nvSpPr>
          <p:cNvPr id="9" name="text-107">
            <a:extLst xmlns:a="http://schemas.openxmlformats.org/drawingml/2006/main">
              <a:ext uri="{FF2B5EF4-FFF2-40B4-BE49-F238E27FC236}">
                <a16:creationId xmlns:a16="http://schemas.microsoft.com/office/drawing/2014/main" id="{4BB4E8A9-25BD-4DF3-AD29-21549A05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5750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无关模块被迫同时修改，需要重新检查边界。</a:t>
            </a:r>
          </a:p>
        </p:txBody>
      </p:sp>
      <p:sp>
        <p:nvSpPr>
          <p:cNvPr id="10" name="text-108">
            <a:extLst xmlns:a="http://schemas.openxmlformats.org/drawingml/2006/main">
              <a:ext uri="{FF2B5EF4-FFF2-40B4-BE49-F238E27FC236}">
                <a16:creationId xmlns:a16="http://schemas.microsoft.com/office/drawing/2014/main" id="{C88CD38F-4F4E-4574-8789-12B4AFCC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00400"/>
            <a:ext cx="619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1" name="text-109">
            <a:extLst xmlns:a="http://schemas.openxmlformats.org/drawingml/2006/main">
              <a:ext uri="{FF2B5EF4-FFF2-40B4-BE49-F238E27FC236}">
                <a16:creationId xmlns:a16="http://schemas.microsoft.com/office/drawing/2014/main" id="{264819E5-5EDD-45AB-B66A-EB6F01C3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00400"/>
            <a:ext cx="9906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中心是否知道了过多细节？</a:t>
            </a:r>
          </a:p>
        </p:txBody>
      </p:sp>
      <p:sp>
        <p:nvSpPr>
          <p:cNvPr id="12" name="text-110">
            <a:extLst xmlns:a="http://schemas.openxmlformats.org/drawingml/2006/main">
              <a:ext uri="{FF2B5EF4-FFF2-40B4-BE49-F238E27FC236}">
                <a16:creationId xmlns:a16="http://schemas.microsoft.com/office/drawing/2014/main" id="{E0D7E426-0294-4AD2-A9F4-C62E7B0A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004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人物 ID、家具图片、业务岗位不应进入通用规则。</a:t>
            </a:r>
          </a:p>
        </p:txBody>
      </p:sp>
      <p:sp>
        <p:nvSpPr>
          <p:cNvPr id="13" name="text-111">
            <a:extLst xmlns:a="http://schemas.openxmlformats.org/drawingml/2006/main">
              <a:ext uri="{FF2B5EF4-FFF2-40B4-BE49-F238E27FC236}">
                <a16:creationId xmlns:a16="http://schemas.microsoft.com/office/drawing/2014/main" id="{CA1D6529-B18F-4EAD-B759-E988CEC9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43350"/>
            <a:ext cx="619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4" name="text-112">
            <a:extLst xmlns:a="http://schemas.openxmlformats.org/drawingml/2006/main">
              <a:ext uri="{FF2B5EF4-FFF2-40B4-BE49-F238E27FC236}">
                <a16:creationId xmlns:a16="http://schemas.microsoft.com/office/drawing/2014/main" id="{E64956BD-C2FA-428B-BC4D-11CA4DF8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43350"/>
            <a:ext cx="9906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扩展有没有绕过统一约束？</a:t>
            </a:r>
          </a:p>
        </p:txBody>
      </p:sp>
      <p:sp>
        <p:nvSpPr>
          <p:cNvPr id="15" name="text-113">
            <a:extLst xmlns:a="http://schemas.openxmlformats.org/drawingml/2006/main">
              <a:ext uri="{FF2B5EF4-FFF2-40B4-BE49-F238E27FC236}">
                <a16:creationId xmlns:a16="http://schemas.microsoft.com/office/drawing/2014/main" id="{3BB04B33-8AF7-40BE-876A-7FC557D5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4340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插件不能自行写状态，也不能私自释放别人的资源。</a:t>
            </a:r>
          </a:p>
        </p:txBody>
      </p:sp>
      <p:sp>
        <p:nvSpPr>
          <p:cNvPr id="16" name="text-114">
            <a:extLst xmlns:a="http://schemas.openxmlformats.org/drawingml/2006/main">
              <a:ext uri="{FF2B5EF4-FFF2-40B4-BE49-F238E27FC236}">
                <a16:creationId xmlns:a16="http://schemas.microsoft.com/office/drawing/2014/main" id="{3D3FA754-FA85-4F5E-A419-81666AAA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86300"/>
            <a:ext cx="619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17" name="text-115">
            <a:extLst xmlns:a="http://schemas.openxmlformats.org/drawingml/2006/main">
              <a:ext uri="{FF2B5EF4-FFF2-40B4-BE49-F238E27FC236}">
                <a16:creationId xmlns:a16="http://schemas.microsoft.com/office/drawing/2014/main" id="{51098873-0444-4701-B597-51F209FA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86300"/>
            <a:ext cx="9906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2B29"/>
                </a:solidFill>
                <a:latin typeface="Hiragino Sans GB"/>
                <a:ea typeface="Hiragino Sans GB"/>
                <a:cs typeface="Hiragino Sans GB"/>
              </a:rPr>
              <a:t>失败能否被解释和恢复？</a:t>
            </a:r>
          </a:p>
        </p:txBody>
      </p:sp>
      <p:sp>
        <p:nvSpPr>
          <p:cNvPr id="18" name="text-116">
            <a:extLst xmlns:a="http://schemas.openxmlformats.org/drawingml/2006/main">
              <a:ext uri="{FF2B5EF4-FFF2-40B4-BE49-F238E27FC236}">
                <a16:creationId xmlns:a16="http://schemas.microsoft.com/office/drawing/2014/main" id="{3D26A41C-0167-48B5-BB7F-BEA293B5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863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69736E"/>
                </a:solidFill>
                <a:latin typeface="Hiragino Sans GB"/>
                <a:ea typeface="Hiragino Sans GB"/>
                <a:cs typeface="Hiragino Sans GB"/>
              </a:rPr>
              <a:t>明确拒绝、取消与回执，不用错误动作伪装成功。</a:t>
            </a:r>
          </a:p>
        </p:txBody>
      </p:sp>
      <p:sp>
        <p:nvSpPr>
          <p:cNvPr id="19" name="text-117">
            <a:extLst xmlns:a="http://schemas.openxmlformats.org/drawingml/2006/main">
              <a:ext uri="{FF2B5EF4-FFF2-40B4-BE49-F238E27FC236}">
                <a16:creationId xmlns:a16="http://schemas.microsoft.com/office/drawing/2014/main" id="{C7EF51B9-3D27-48E0-91A9-B7591BD9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7A60"/>
                </a:solidFill>
                <a:latin typeface="Hiragino Sans GB"/>
                <a:ea typeface="Hiragino Sans GB"/>
                <a:cs typeface="Hiragino Sans GB"/>
              </a:rPr>
              <a:t>扩展主要发生在边缘；只有共用执行规则改变，才进入内核。</a:t>
            </a:r>
          </a:p>
        </p:txBody>
      </p:sp>
    </p:spTree>
    <p:extLst>
      <p:ext uri="{BB962C8B-B14F-4D97-AF65-F5344CB8AC3E}">
        <p14:creationId xmlns:p14="http://schemas.microsoft.com/office/powerpoint/2010/main" val="14588450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2026-09-30T12:23:57.1010000Z</dcterms:created>
  <dcterms:modified xsi:type="dcterms:W3CDTF">2026-09-30T12:23:57.1010000Z</dcterms:modified>
</coreProperties>
</file>