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5c41a7760249cd" /><Relationship Type="http://schemas.openxmlformats.org/officeDocument/2006/relationships/extended-properties" Target="/docProps/app.xml" Id="R7419084cd89b42a4" /><Relationship Type="http://schemas.openxmlformats.org/officeDocument/2006/relationships/officeDocument" Target="/ppt/presentation.xml" Id="Rb656121d894d49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92b8c64efb41c9"/>
  </p:sldMasterIdLst>
  <p:notesMasterIdLst>
    <p:notesMasterId xmlns:r="http://schemas.openxmlformats.org/officeDocument/2006/relationships" r:id="R55f3cbce36e04580"/>
  </p:notesMasterIdLst>
  <p:sldIdLst>
    <p:sldId xmlns:r="http://schemas.openxmlformats.org/officeDocument/2006/relationships" id="256" r:id="Ra377dfd0e2bf4aab"/>
    <p:sldId xmlns:r="http://schemas.openxmlformats.org/officeDocument/2006/relationships" id="257" r:id="R1374e3659c1b4947"/>
    <p:sldId xmlns:r="http://schemas.openxmlformats.org/officeDocument/2006/relationships" id="258" r:id="R44c94718edd14f80"/>
    <p:sldId xmlns:r="http://schemas.openxmlformats.org/officeDocument/2006/relationships" id="259" r:id="R44e09fdd829b4aef"/>
    <p:sldId xmlns:r="http://schemas.openxmlformats.org/officeDocument/2006/relationships" id="260" r:id="Rb234686a4760492b"/>
    <p:sldId xmlns:r="http://schemas.openxmlformats.org/officeDocument/2006/relationships" id="261" r:id="R562700915a674ca9"/>
    <p:sldId xmlns:r="http://schemas.openxmlformats.org/officeDocument/2006/relationships" id="262" r:id="Rc19649f09cf94622"/>
    <p:sldId xmlns:r="http://schemas.openxmlformats.org/officeDocument/2006/relationships" id="263" r:id="Rb9ebff3444094f85"/>
    <p:sldId xmlns:r="http://schemas.openxmlformats.org/officeDocument/2006/relationships" id="264" r:id="R80b1852fb0784519"/>
    <p:sldId xmlns:r="http://schemas.openxmlformats.org/officeDocument/2006/relationships" id="265" r:id="R8d4f3c40d5e5440c"/>
    <p:sldId xmlns:r="http://schemas.openxmlformats.org/officeDocument/2006/relationships" id="266" r:id="Rece35bbb5f36451b"/>
    <p:sldId xmlns:r="http://schemas.openxmlformats.org/officeDocument/2006/relationships" id="267" r:id="Rb9cdfe88a3464c33"/>
    <p:sldId xmlns:r="http://schemas.openxmlformats.org/officeDocument/2006/relationships" id="268" r:id="Ra2c3061122b64966"/>
    <p:sldId xmlns:r="http://schemas.openxmlformats.org/officeDocument/2006/relationships" id="269" r:id="R164c4fc9c97246fa"/>
    <p:sldId xmlns:r="http://schemas.openxmlformats.org/officeDocument/2006/relationships" id="270" r:id="R2d4f47811f9946b4"/>
    <p:sldId xmlns:r="http://schemas.openxmlformats.org/officeDocument/2006/relationships" id="271" r:id="R1197230b2d6a4644"/>
    <p:sldId xmlns:r="http://schemas.openxmlformats.org/officeDocument/2006/relationships" id="272" r:id="R68a6d527ce234f86"/>
    <p:sldId xmlns:r="http://schemas.openxmlformats.org/officeDocument/2006/relationships" id="273" r:id="Re72469ca0855415d"/>
    <p:sldId xmlns:r="http://schemas.openxmlformats.org/officeDocument/2006/relationships" id="274" r:id="R50bfd5046a034bdf"/>
    <p:sldId xmlns:r="http://schemas.openxmlformats.org/officeDocument/2006/relationships" id="275" r:id="R728d245eaf6c43e8"/>
    <p:sldId xmlns:r="http://schemas.openxmlformats.org/officeDocument/2006/relationships" id="276" r:id="Rc02a535763444dbe"/>
    <p:sldId xmlns:r="http://schemas.openxmlformats.org/officeDocument/2006/relationships" id="277" r:id="R5fb632dcbdf04b78"/>
    <p:sldId xmlns:r="http://schemas.openxmlformats.org/officeDocument/2006/relationships" id="278" r:id="R8eac972a50164d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2ab4d8130c4512" /><Relationship Type="http://schemas.openxmlformats.org/officeDocument/2006/relationships/slideMaster" Target="/ppt/slideMasters/slideMaster1.xml" Id="R5f92b8c64efb41c9" /><Relationship Type="http://schemas.openxmlformats.org/officeDocument/2006/relationships/notesMaster" Target="/ppt/notesMasters/notesMaster1.xml" Id="R55f3cbce36e04580" /><Relationship Type="http://schemas.openxmlformats.org/officeDocument/2006/relationships/presProps" Target="/ppt/presProps.xml" Id="R0a9f7e76962e494b" /><Relationship Type="http://schemas.openxmlformats.org/officeDocument/2006/relationships/tableStyles" Target="/ppt/tableStyles.xml" Id="R9812f012d4364e23" /><Relationship Type="http://schemas.openxmlformats.org/officeDocument/2006/relationships/slide" Target="/ppt/slides/slide1.xml" Id="Ra377dfd0e2bf4aab" /><Relationship Type="http://schemas.openxmlformats.org/officeDocument/2006/relationships/slide" Target="/ppt/slides/slide2.xml" Id="R1374e3659c1b4947" /><Relationship Type="http://schemas.openxmlformats.org/officeDocument/2006/relationships/slide" Target="/ppt/slides/slide3.xml" Id="R44c94718edd14f80" /><Relationship Type="http://schemas.openxmlformats.org/officeDocument/2006/relationships/slide" Target="/ppt/slides/slide4.xml" Id="R44e09fdd829b4aef" /><Relationship Type="http://schemas.openxmlformats.org/officeDocument/2006/relationships/slide" Target="/ppt/slides/slide5.xml" Id="Rb234686a4760492b" /><Relationship Type="http://schemas.openxmlformats.org/officeDocument/2006/relationships/slide" Target="/ppt/slides/slide6.xml" Id="R562700915a674ca9" /><Relationship Type="http://schemas.openxmlformats.org/officeDocument/2006/relationships/slide" Target="/ppt/slides/slide7.xml" Id="Rc19649f09cf94622" /><Relationship Type="http://schemas.openxmlformats.org/officeDocument/2006/relationships/slide" Target="/ppt/slides/slide8.xml" Id="Rb9ebff3444094f85" /><Relationship Type="http://schemas.openxmlformats.org/officeDocument/2006/relationships/slide" Target="/ppt/slides/slide9.xml" Id="R80b1852fb0784519" /><Relationship Type="http://schemas.openxmlformats.org/officeDocument/2006/relationships/slide" Target="/ppt/slides/slide10.xml" Id="R8d4f3c40d5e5440c" /><Relationship Type="http://schemas.openxmlformats.org/officeDocument/2006/relationships/slide" Target="/ppt/slides/slide11.xml" Id="Rece35bbb5f36451b" /><Relationship Type="http://schemas.openxmlformats.org/officeDocument/2006/relationships/slide" Target="/ppt/slides/slide12.xml" Id="Rb9cdfe88a3464c33" /><Relationship Type="http://schemas.openxmlformats.org/officeDocument/2006/relationships/slide" Target="/ppt/slides/slide13.xml" Id="Ra2c3061122b64966" /><Relationship Type="http://schemas.openxmlformats.org/officeDocument/2006/relationships/slide" Target="/ppt/slides/slide14.xml" Id="R164c4fc9c97246fa" /><Relationship Type="http://schemas.openxmlformats.org/officeDocument/2006/relationships/slide" Target="/ppt/slides/slide15.xml" Id="R2d4f47811f9946b4" /><Relationship Type="http://schemas.openxmlformats.org/officeDocument/2006/relationships/slide" Target="/ppt/slides/slide16.xml" Id="R1197230b2d6a4644" /><Relationship Type="http://schemas.openxmlformats.org/officeDocument/2006/relationships/slide" Target="/ppt/slides/slide17.xml" Id="R68a6d527ce234f86" /><Relationship Type="http://schemas.openxmlformats.org/officeDocument/2006/relationships/slide" Target="/ppt/slides/slide18.xml" Id="Re72469ca0855415d" /><Relationship Type="http://schemas.openxmlformats.org/officeDocument/2006/relationships/slide" Target="/ppt/slides/slide19.xml" Id="R50bfd5046a034bdf" /><Relationship Type="http://schemas.openxmlformats.org/officeDocument/2006/relationships/slide" Target="/ppt/slides/slide20.xml" Id="R728d245eaf6c43e8" /><Relationship Type="http://schemas.openxmlformats.org/officeDocument/2006/relationships/slide" Target="/ppt/slides/slide21.xml" Id="Rc02a535763444dbe" /><Relationship Type="http://schemas.openxmlformats.org/officeDocument/2006/relationships/slide" Target="/ppt/slides/slide22.xml" Id="R5fb632dcbdf04b78" /><Relationship Type="http://schemas.openxmlformats.org/officeDocument/2006/relationships/slide" Target="/ppt/slides/slide23.xml" Id="R8eac972a50164d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5b0755065746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54906a9462403d" /><Relationship Type="http://schemas.openxmlformats.org/officeDocument/2006/relationships/notesMaster" Target="/ppt/notesMasters/notesMaster1.xml" Id="R093529d45ae445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a9decb963a4c02" /><Relationship Type="http://schemas.openxmlformats.org/officeDocument/2006/relationships/notesMaster" Target="/ppt/notesMasters/notesMaster1.xml" Id="R8db8c097424748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bec37449ba4544" /><Relationship Type="http://schemas.openxmlformats.org/officeDocument/2006/relationships/notesMaster" Target="/ppt/notesMasters/notesMaster1.xml" Id="R7b0613fbe74a4e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4110ed26264738" /><Relationship Type="http://schemas.openxmlformats.org/officeDocument/2006/relationships/notesMaster" Target="/ppt/notesMasters/notesMaster1.xml" Id="R76ec2b6c913043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e8fb090f2c4f52" /><Relationship Type="http://schemas.openxmlformats.org/officeDocument/2006/relationships/notesMaster" Target="/ppt/notesMasters/notesMaster1.xml" Id="R019ce5ef8cf544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c944b68e3843ee" /><Relationship Type="http://schemas.openxmlformats.org/officeDocument/2006/relationships/notesMaster" Target="/ppt/notesMasters/notesMaster1.xml" Id="R0721c7cf8e2c43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67d341572a448c" /><Relationship Type="http://schemas.openxmlformats.org/officeDocument/2006/relationships/notesMaster" Target="/ppt/notesMasters/notesMaster1.xml" Id="Rf63f7c07d23b4a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6e922bb7cd4d61" /><Relationship Type="http://schemas.openxmlformats.org/officeDocument/2006/relationships/notesMaster" Target="/ppt/notesMasters/notesMaster1.xml" Id="R6ee8896e292749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cbfd2c66e541b0" /><Relationship Type="http://schemas.openxmlformats.org/officeDocument/2006/relationships/notesMaster" Target="/ppt/notesMasters/notesMaster1.xml" Id="R6c47a273562b4a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bd621bf96840ce" /><Relationship Type="http://schemas.openxmlformats.org/officeDocument/2006/relationships/notesMaster" Target="/ppt/notesMasters/notesMaster1.xml" Id="Ree5bec842ecb451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a478430544d46d6" /><Relationship Type="http://schemas.openxmlformats.org/officeDocument/2006/relationships/notesMaster" Target="/ppt/notesMasters/notesMaster1.xml" Id="R4d6a54ebd56642c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a9bd9ecfd504e6a" /><Relationship Type="http://schemas.openxmlformats.org/officeDocument/2006/relationships/notesMaster" Target="/ppt/notesMasters/notesMaster1.xml" Id="R3858d37d47144ff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fc6ed6407174295" /><Relationship Type="http://schemas.openxmlformats.org/officeDocument/2006/relationships/notesMaster" Target="/ppt/notesMasters/notesMaster1.xml" Id="Rab36b10bc0474a9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853b11a7d0c4be4" /><Relationship Type="http://schemas.openxmlformats.org/officeDocument/2006/relationships/notesMaster" Target="/ppt/notesMasters/notesMaster1.xml" Id="Rd3dc9e625156492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ab9932577434c1f" /><Relationship Type="http://schemas.openxmlformats.org/officeDocument/2006/relationships/notesMaster" Target="/ppt/notesMasters/notesMaster1.xml" Id="R2ddbdaf708c44f7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d122e4eabc540b0" /><Relationship Type="http://schemas.openxmlformats.org/officeDocument/2006/relationships/notesMaster" Target="/ppt/notesMasters/notesMaster1.xml" Id="R276acc26ca25488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b06292b63854fd1" /><Relationship Type="http://schemas.openxmlformats.org/officeDocument/2006/relationships/notesMaster" Target="/ppt/notesMasters/notesMaster1.xml" Id="Rc38e0b769738406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65d671f2f8f4eeb" /><Relationship Type="http://schemas.openxmlformats.org/officeDocument/2006/relationships/notesMaster" Target="/ppt/notesMasters/notesMaster1.xml" Id="R65cacfe2656f419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fb3baf393344c3b" /><Relationship Type="http://schemas.openxmlformats.org/officeDocument/2006/relationships/notesMaster" Target="/ppt/notesMasters/notesMaster1.xml" Id="R07bbf22ba42a4da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d0ca2d6975b4d79" /><Relationship Type="http://schemas.openxmlformats.org/officeDocument/2006/relationships/notesMaster" Target="/ppt/notesMasters/notesMaster1.xml" Id="R525238ca54424b4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54c04712cac481e" /><Relationship Type="http://schemas.openxmlformats.org/officeDocument/2006/relationships/notesMaster" Target="/ppt/notesMasters/notesMaster1.xml" Id="Rb6aefb4718d4446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70a644bd0bd4366" /><Relationship Type="http://schemas.openxmlformats.org/officeDocument/2006/relationships/notesMaster" Target="/ppt/notesMasters/notesMaster1.xml" Id="R4e6120da5fbc4ff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235ce665bef41f6" /><Relationship Type="http://schemas.openxmlformats.org/officeDocument/2006/relationships/notesMaster" Target="/ppt/notesMasters/notesMaster1.xml" Id="R3a94d196ca6e4d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AI-Office-模块化与插件化架构-v2.pptx 修订。日期：2026-09-30。除明确标注的现有能力外，分包、人员分工及发布机制均为目标方案，不代表已全部实现。封面截图沿用 v2，是项目历史界面示意，不作为本次最新运行状态的证明。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AI-Office-模块化与插件化架构-v2.pptx 修订。日期：2026-09-30。除明确标注的现有能力外，分包、人员分工及发布机制均为目标方案，不代表已全部实现。项目定位依据仓库 README.md、docs/plugin-runtime.md、docs/dashboard-integration.md。本文中的外部业务系统可以是 Agent 平台，也可以是普通业务程序。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AI-Office-模块化与插件化架构-v2.pptx 修订。日期：2026-09-30。除明确标注的现有能力外，分包、人员分工及发布机制均为目标方案，不代表已全部实现。现有功能依据 README.md 与 docs/plugin-runtime.md；素材准入依据 docs/character-admission.md。本次未重新执行全部产品测试，不作质量或完整性保证。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AI-Office-模块化与插件化架构-v2.pptx 修订。日期：2026-09-30。除明确标注的现有能力外，分包、人员分工及发布机制均为目标方案，不代表已全部实现。示意链路不规定业务与场景必须串行等待。宿主决定编排方式。现有协议可用 activity.start / office.visit 表达工位拜访，用 actor.presentation.set 更新业务展示。业务交付物由宿主系统提供。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AI-Office-模块化与插件化架构-v2.pptx 修订。日期：2026-09-30。除明确标注的现有能力外，分包、人员分工及发布机制均为目标方案，不代表已全部实现。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AI-Office-模块化与插件化架构-v2.pptx 修订。日期：2026-09-30。除明确标注的现有能力外，分包、人员分工及发布机制均为目标方案，不代表已全部实现。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AI-Office-模块化与插件化架构-v2.pptx 修订。日期：2026-09-30。除明确标注的现有能力外，分包、人员分工及发布机制均为目标方案，不代表已全部实现。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AI-Office-模块化与插件化架构-v2.pptx 修订。日期：2026-09-30。除明确标注的现有能力外，分包、人员分工及发布机制均为目标方案，不代表已全部实现。目标上地图编辑逻辑保留为独立模块或子入口，不要求所有使用运行时的宿主载入编辑器 UI。姿态语义由运行时维护，实际帧采样与动画插值由表现层执行。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AI-Office-模块化与插件化架构-v2.pptx 修订。日期：2026-09-30。除明确标注的现有能力外，分包、人员分工及发布机制均为目标方案，不代表已全部实现。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AI-Office-模块化与插件化架构-v2.pptx 修订。日期：2026-09-30。除明确标注的现有能力外，分包、人员分工及发布机制均为目标方案，不代表已全部实现。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AI-Office-模块化与插件化架构-v2.pptx 修订。日期：2026-09-30。除明确标注的现有能力外，分包、人员分工及发布机制均为目标方案，不代表已全部实现。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AI-Office-模块化与插件化架构-v2.pptx 修订。日期：2026-09-30。除明确标注的现有能力外，分包、人员分工及发布机制均为目标方案，不代表已全部实现。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AI-Office-模块化与插件化架构-v2.pptx 修订。日期：2026-09-30。除明确标注的现有能力外，分包、人员分工及发布机制均为目标方案，不代表已全部实现。四个包是目标逻辑边界，尚未视为已发布包。office-pack 的逻辑和视觉采用不同导出入口，不能让 logic 入口间接载入 Pixi。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AI-Office-模块化与插件化架构-v2.pptx 修订。日期：2026-09-30。除明确标注的现有能力外，分包、人员分工及发布机制均为目标方案，不代表已全部实现。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AI-Office-模块化与插件化架构-v2.pptx 修订。日期：2026-09-30。除明确标注的现有能力外，分包、人员分工及发布机制均为目标方案，不代表已全部实现。这是目标目录，不是当前目录的照抄。现有 art/characters/packs、scripts/characters、src/runtime 等可以渐进迁移。HTTP/存储适配器先为应用模块，有独立复用需求后再提包。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AI-Office-模块化与插件化架构-v2.pptx 修订。日期：2026-09-30。除明确标注的现有能力外，分包、人员分工及发布机制均为目标方案，不代表已全部实现。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AI-Office-模块化与插件化架构-v2.pptx 修订。日期：2026-09-30。除明确标注的现有能力外，分包、人员分工及发布机制均为目标方案，不代表已全部实现。饮水机为目标扩展示例，当前不宣称已有可用饮水机插件。缺少匹配动作时应报告能力不支持，不能静默采用不兼容姿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AI-Office-模块化与插件化架构-v2.pptx 修订。日期：2026-09-30。除明确标注的现有能力外，分包、人员分工及发布机制均为目标方案，不代表已全部实现。依据 docs/character-admission.md：仓库已有暂存、自动审计、隔离预览、视觉审核与发布流程。现有六个人物按原内容冻结兼容，不等于旧素材已经通过新标准。本页将该流程归入目标分包体系。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AI-Office-模块化与插件化架构-v2.pptx 修订。日期：2026-09-30。除明确标注的现有能力外，分包、人员分工及发布机制均为目标方案，不代表已全部实现。职责不是固定编制：小团队一人可承担多项，大团队可围绕接口独立推进。三人示例可由管理者兼架构与整体验收，执行者 A 负责运行时和接入，执行者 B 负责视觉、内容和工具；需按实际技能调整，不改变包边界。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AI-Office-模块化与插件化架构-v2.pptx 修订。日期：2026-09-30。除明确标注的现有能力外，分包、人员分工及发布机制均为目标方案，不代表已全部实现。承接责任矩阵。每个工作域可以独立安排维护任务，但需要完整功能验收，不能仅交付抽象模块而不验证最终用户场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AI-Office-模块化与插件化架构-v2.pptx 修订。日期：2026-09-30。除明确标注的现有能力外，分包、人员分工及发布机制均为目标方案，不代表已全部实现。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AI-Office-模块化与插件化架构-v2.pptx 修订。日期：2026-09-30。除明确标注的现有能力外，分包、人员分工及发布机制均为目标方案，不代表已全部实现。渐进迁移保留现有实现与素材，优先建立验证再拆包，不以大规模重写作为前提。包仅在边界经过真实复用验证后决定公开发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基于用户提供的 AI-Office-模块化与插件化架构-v2.pptx 修订。日期：2026-09-30。除明确标注的现有能力外，分包、人员分工及发布机制均为目标方案，不代表已全部实现。现有基础依据 README.md、docs/plugin-runtime.md、docs/character-admission.md 及相应目录检查。本次是架构文档修订，未重新运行整套产品测试。开源交付是待完成清单，不能理解为当前已具备生产安全能力。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70512499064b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c4ee2ed22c4203" /><Relationship Type="http://schemas.openxmlformats.org/officeDocument/2006/relationships/slideLayout" Target="/ppt/slideLayouts/slideLayout1.xml" Id="R70e784c758ec48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e784c758ec48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ca03e65cc4966" /><Relationship Type="http://schemas.openxmlformats.org/officeDocument/2006/relationships/image" Target="/ppt/media/image.jpeg" Id="R1b5f07cba5af45d3" /><Relationship Type="http://schemas.openxmlformats.org/officeDocument/2006/relationships/notesSlide" Target="/ppt/notesSlides/notesSlide1.xml" Id="R44e05cb09ca648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d0cd4cff34311" /><Relationship Type="http://schemas.openxmlformats.org/officeDocument/2006/relationships/notesSlide" Target="/ppt/notesSlides/notesSlide2.xml" Id="R47a44b621d5242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dadde36f34930" /><Relationship Type="http://schemas.openxmlformats.org/officeDocument/2006/relationships/notesSlide" Target="/ppt/notesSlides/notesSlide3.xml" Id="R46d2336dc48f47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828f64f9546fa" /><Relationship Type="http://schemas.openxmlformats.org/officeDocument/2006/relationships/notesSlide" Target="/ppt/notesSlides/notesSlide4.xml" Id="Ra728c0cbf6c040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977a1ba134493" /><Relationship Type="http://schemas.openxmlformats.org/officeDocument/2006/relationships/notesSlide" Target="/ppt/notesSlides/notesSlide5.xml" Id="R6b0e655dca9447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3b653844641d3" /><Relationship Type="http://schemas.openxmlformats.org/officeDocument/2006/relationships/notesSlide" Target="/ppt/notesSlides/notesSlide6.xml" Id="Rf632672f6aaf4a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628d2cfae4af8" /><Relationship Type="http://schemas.openxmlformats.org/officeDocument/2006/relationships/notesSlide" Target="/ppt/notesSlides/notesSlide7.xml" Id="Rd2ccd343b28d40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60ebc2aee4716" /><Relationship Type="http://schemas.openxmlformats.org/officeDocument/2006/relationships/notesSlide" Target="/ppt/notesSlides/notesSlide8.xml" Id="R7baca915100c49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78fbeddf44cb9" /><Relationship Type="http://schemas.openxmlformats.org/officeDocument/2006/relationships/notesSlide" Target="/ppt/notesSlides/notesSlide9.xml" Id="Rd224727f401c41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b9d42d8994f45" /><Relationship Type="http://schemas.openxmlformats.org/officeDocument/2006/relationships/notesSlide" Target="/ppt/notesSlides/notesSlide10.xml" Id="Reef6f1cfd97d4c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a19617610459d" /><Relationship Type="http://schemas.openxmlformats.org/officeDocument/2006/relationships/notesSlide" Target="/ppt/notesSlides/notesSlide11.xml" Id="R08f775f4f67e4d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2dc38f53b4f99" /><Relationship Type="http://schemas.openxmlformats.org/officeDocument/2006/relationships/notesSlide" Target="/ppt/notesSlides/notesSlide12.xml" Id="Re5116ea9fa5e4f4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a1eb1d6154a48" /><Relationship Type="http://schemas.openxmlformats.org/officeDocument/2006/relationships/notesSlide" Target="/ppt/notesSlides/notesSlide13.xml" Id="R4abf71a0682048d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0f5163c5d4005" /><Relationship Type="http://schemas.openxmlformats.org/officeDocument/2006/relationships/notesSlide" Target="/ppt/notesSlides/notesSlide14.xml" Id="R29f126d556ea4f0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883e72e9914175" /><Relationship Type="http://schemas.openxmlformats.org/officeDocument/2006/relationships/notesSlide" Target="/ppt/notesSlides/notesSlide15.xml" Id="R08f8edecc7b94cf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86908172c49af" /><Relationship Type="http://schemas.openxmlformats.org/officeDocument/2006/relationships/notesSlide" Target="/ppt/notesSlides/notesSlide16.xml" Id="R223e274bf15d43b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62db537b2c4c9c" /><Relationship Type="http://schemas.openxmlformats.org/officeDocument/2006/relationships/notesSlide" Target="/ppt/notesSlides/notesSlide17.xml" Id="R472180adf1344ec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d314dc8aa466b" /><Relationship Type="http://schemas.openxmlformats.org/officeDocument/2006/relationships/notesSlide" Target="/ppt/notesSlides/notesSlide18.xml" Id="Rf5b7355d981f4fd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fe0f887fc4f6c" /><Relationship Type="http://schemas.openxmlformats.org/officeDocument/2006/relationships/notesSlide" Target="/ppt/notesSlides/notesSlide19.xml" Id="R4770b69b759a45a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a5624240b497c" /><Relationship Type="http://schemas.openxmlformats.org/officeDocument/2006/relationships/notesSlide" Target="/ppt/notesSlides/notesSlide20.xml" Id="Rdb5b3874a0d2460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3448fbd794953" /><Relationship Type="http://schemas.openxmlformats.org/officeDocument/2006/relationships/notesSlide" Target="/ppt/notesSlides/notesSlide21.xml" Id="R88adfc121ed6439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3053d5e90483d" /><Relationship Type="http://schemas.openxmlformats.org/officeDocument/2006/relationships/notesSlide" Target="/ppt/notesSlides/notesSlide22.xml" Id="Rc7e96cbe0cb8420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88b6d21ba4802" /><Relationship Type="http://schemas.openxmlformats.org/officeDocument/2006/relationships/notesSlide" Target="/ppt/notesSlides/notesSlide23.xml" Id="R39166f886f8742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2FCBD5-AE14-4954-B1E7-FDBA5413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C6AAD-AC3B-4C69-B747-8671CD97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763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AI Office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F2D6F-32C5-4FD4-B570-939B6A15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5429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42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42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功能、架构</a:t>
            </a:r>
          </a:p>
          <a:p xmlns:a="http://schemas.openxmlformats.org/drawingml/2006/main">
            <a:pPr>
              <a:buNone/>
              <a:defRPr sz="442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42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与协作设计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2BAC3-B2C7-4F86-B243-75B813EE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29100"/>
            <a:ext cx="533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把变化限制在局部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B00B29-8AAF-4D0C-A415-D3875411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7150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目标架构与分工方案  /  2026.09.30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f07cba5af45d3"/>
          <a:stretch xmlns:a="http://schemas.openxmlformats.org/drawingml/2006/main"/>
        </p:blipFill>
        <p:spPr>
          <a:xfrm xmlns:a="http://schemas.openxmlformats.org/drawingml/2006/main">
            <a:off x="6248400" y="2255044"/>
            <a:ext cx="5410200" cy="304323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7727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v4-text-1">
            <a:extLst xmlns:a="http://schemas.openxmlformats.org/drawingml/2006/main">
              <a:ext uri="{FF2B5EF4-FFF2-40B4-BE49-F238E27FC236}">
                <a16:creationId xmlns:a16="http://schemas.microsoft.com/office/drawing/2014/main" id="{8869672F-8EBB-4E26-81F6-CCEECB4D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项目定位与系统边界</a:t>
            </a:r>
          </a:p>
        </p:txBody>
      </p:sp>
      <p:sp>
        <p:nvSpPr>
          <p:cNvPr id="2" name="v4-text-2">
            <a:extLst xmlns:a="http://schemas.openxmlformats.org/drawingml/2006/main">
              <a:ext uri="{FF2B5EF4-FFF2-40B4-BE49-F238E27FC236}">
                <a16:creationId xmlns:a16="http://schemas.microsoft.com/office/drawing/2014/main" id="{4FDB60F4-1BBF-4693-A048-B6A0B435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858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AI Office：可由外部系统驱动的二维人物与场景交互前端</a:t>
            </a:r>
          </a:p>
        </p:txBody>
      </p:sp>
      <p:sp>
        <p:nvSpPr>
          <p:cNvPr id="3" name="v4-text-3">
            <a:extLst xmlns:a="http://schemas.openxmlformats.org/drawingml/2006/main">
              <a:ext uri="{FF2B5EF4-FFF2-40B4-BE49-F238E27FC236}">
                <a16:creationId xmlns:a16="http://schemas.microsoft.com/office/drawing/2014/main" id="{01EF3219-73B9-4E4B-9AD9-67C88548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103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4" name="v4-text-4">
            <a:extLst xmlns:a="http://schemas.openxmlformats.org/drawingml/2006/main">
              <a:ext uri="{FF2B5EF4-FFF2-40B4-BE49-F238E27FC236}">
                <a16:creationId xmlns:a16="http://schemas.microsoft.com/office/drawing/2014/main" id="{606AC014-95F3-4086-843F-0630B7A6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用户看到的产品</a:t>
            </a:r>
          </a:p>
        </p:txBody>
      </p:sp>
      <p:sp>
        <p:nvSpPr>
          <p:cNvPr id="5" name="v4-text-5">
            <a:extLst xmlns:a="http://schemas.openxmlformats.org/drawingml/2006/main">
              <a:ext uri="{FF2B5EF4-FFF2-40B4-BE49-F238E27FC236}">
                <a16:creationId xmlns:a16="http://schemas.microsoft.com/office/drawing/2014/main" id="{42A9FD65-9364-43ED-9961-7E9F5EF3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5334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人物在办公室内走动、交流和工作。</a:t>
            </a:r>
          </a:p>
          <a:p xmlns:a="http://schemas.openxmlformats.org/drawingml/2006/main">
            <a:pPr>
              <a:defRPr sz="21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页面同步展示员工、任务与业务指标。</a:t>
            </a:r>
          </a:p>
          <a:p xmlns:a="http://schemas.openxmlformats.org/drawingml/2006/main">
            <a:pPr>
              <a:defRPr sz="21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用户和 AI 可以编辑布局、驱动场景。</a:t>
            </a:r>
          </a:p>
        </p:txBody>
      </p:sp>
      <p:sp>
        <p:nvSpPr>
          <p:cNvPr id="6" name="v4-text-6">
            <a:extLst xmlns:a="http://schemas.openxmlformats.org/drawingml/2006/main">
              <a:ext uri="{FF2B5EF4-FFF2-40B4-BE49-F238E27FC236}">
                <a16:creationId xmlns:a16="http://schemas.microsoft.com/office/drawing/2014/main" id="{62977BE0-2BCA-4301-A16A-196B5006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57375"/>
            <a:ext cx="506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系统承担的责任</a:t>
            </a:r>
          </a:p>
        </p:txBody>
      </p:sp>
      <p:sp>
        <p:nvSpPr>
          <p:cNvPr id="7" name="v4-text-7">
            <a:extLst xmlns:a="http://schemas.openxmlformats.org/drawingml/2006/main">
              <a:ext uri="{FF2B5EF4-FFF2-40B4-BE49-F238E27FC236}">
                <a16:creationId xmlns:a16="http://schemas.microsoft.com/office/drawing/2014/main" id="{53DB7528-B0A7-4393-80E4-C20806E4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2700"/>
            <a:ext cx="5067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可靠执行移动、占用与交互规则。</a:t>
            </a:r>
          </a:p>
          <a:p xmlns:a="http://schemas.openxmlformats.org/drawingml/2006/main">
            <a:pPr>
              <a:defRPr sz="21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把外部任务状态映射成可理解的画面。</a:t>
            </a:r>
          </a:p>
          <a:p xmlns:a="http://schemas.openxmlformats.org/drawingml/2006/main">
            <a:pPr>
              <a:defRPr sz="21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允许替换人物、家具、行为及宿主。</a:t>
            </a:r>
          </a:p>
        </p:txBody>
      </p:sp>
      <p:sp>
        <p:nvSpPr>
          <p:cNvPr id="8" name="v4-text-8">
            <a:extLst xmlns:a="http://schemas.openxmlformats.org/drawingml/2006/main">
              <a:ext uri="{FF2B5EF4-FFF2-40B4-BE49-F238E27FC236}">
                <a16:creationId xmlns:a16="http://schemas.microsoft.com/office/drawing/2014/main" id="{16B8D98B-8EEF-4263-AFC1-5D227D8F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业务任务、Agent 推理、数据采集及真实文件产出由外部业务系统负责。</a:t>
            </a:r>
          </a:p>
        </p:txBody>
      </p:sp>
      <p:sp>
        <p:nvSpPr>
          <p:cNvPr id="9" name="v4-text-9">
            <a:extLst xmlns:a="http://schemas.openxmlformats.org/drawingml/2006/main">
              <a:ext uri="{FF2B5EF4-FFF2-40B4-BE49-F238E27FC236}">
                <a16:creationId xmlns:a16="http://schemas.microsoft.com/office/drawing/2014/main" id="{097E80A6-69B0-4467-97DB-76BE81C2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场景回报自身活动结果；业务系统决定任务是否完成。</a:t>
            </a:r>
          </a:p>
        </p:txBody>
      </p:sp>
    </p:spTree>
    <p:extLst>
      <p:ext uri="{BB962C8B-B14F-4D97-AF65-F5344CB8AC3E}">
        <p14:creationId xmlns:p14="http://schemas.microsoft.com/office/powerpoint/2010/main" val="8664724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v4-text-10">
            <a:extLst xmlns:a="http://schemas.openxmlformats.org/drawingml/2006/main">
              <a:ext uri="{FF2B5EF4-FFF2-40B4-BE49-F238E27FC236}">
                <a16:creationId xmlns:a16="http://schemas.microsoft.com/office/drawing/2014/main" id="{01AD06FB-0EF1-40FF-BF33-5FB1509B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项目功能全景</a:t>
            </a:r>
          </a:p>
        </p:txBody>
      </p:sp>
      <p:sp>
        <p:nvSpPr>
          <p:cNvPr id="2" name="v4-text-11">
            <a:extLst xmlns:a="http://schemas.openxmlformats.org/drawingml/2006/main">
              <a:ext uri="{FF2B5EF4-FFF2-40B4-BE49-F238E27FC236}">
                <a16:creationId xmlns:a16="http://schemas.microsoft.com/office/drawing/2014/main" id="{1001F107-377F-4A03-B729-B3B2C3FC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858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现有能力按当前仓库说明整理；新增场景和发布生态属于目标扩展</a:t>
            </a:r>
          </a:p>
        </p:txBody>
      </p:sp>
      <p:sp>
        <p:nvSpPr>
          <p:cNvPr id="3" name="v4-text-12">
            <a:extLst xmlns:a="http://schemas.openxmlformats.org/drawingml/2006/main">
              <a:ext uri="{FF2B5EF4-FFF2-40B4-BE49-F238E27FC236}">
                <a16:creationId xmlns:a16="http://schemas.microsoft.com/office/drawing/2014/main" id="{D1C2627E-78E2-491F-A727-A05714DC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103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3962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81200"/>
                <a:gridCol w="5086350"/>
                <a:gridCol w="3905250"/>
              </a:tblGrid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功能</a:t>
                      </a:r>
                    </a:p>
                  </a:txBody>
                  <a:tcPr marL="114300" marR="114300" marT="85725" marB="85725" anchor="ctr">
                    <a:solidFill>
                      <a:srgbClr val="EDF2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用户可以做什么</a:t>
                      </a:r>
                    </a:p>
                  </a:txBody>
                  <a:tcPr marL="114300" marR="114300" marT="85725" marB="85725" anchor="ctr">
                    <a:solidFill>
                      <a:srgbClr val="EDF2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实现边界</a:t>
                      </a:r>
                    </a:p>
                  </a:txBody>
                  <a:tcPr marL="114300" marR="114300" marT="85725" marB="85725" anchor="ctr">
                    <a:solidFill>
                      <a:srgbClr val="EDF2E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业务看板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查看指标、员工状态和当前任务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应用层与业务数据源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人物与动作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走动、入座、工作、发言和表情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角色资源与渲染器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多人交互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工位拜访、多人会议、持续专注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行为插件与运行时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家具与布局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拖放家具、绑定工位、撤销与重做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编辑模块与空间规则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外部驱动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提交命令，查询能力、状态与结果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协议与通信适配器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扩展与制作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管理内置插件，制作和验收角色包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内容包与制作工具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v4-text-13">
            <a:extLst xmlns:a="http://schemas.openxmlformats.org/drawingml/2006/main">
              <a:ext uri="{FF2B5EF4-FFF2-40B4-BE49-F238E27FC236}">
                <a16:creationId xmlns:a16="http://schemas.microsoft.com/office/drawing/2014/main" id="{FB4974F3-8991-4F37-9C47-143A5517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未接入真实业务服务时，示例数据和演示动作必须明确标识。</a:t>
            </a:r>
          </a:p>
        </p:txBody>
      </p:sp>
    </p:spTree>
    <p:extLst>
      <p:ext uri="{BB962C8B-B14F-4D97-AF65-F5344CB8AC3E}">
        <p14:creationId xmlns:p14="http://schemas.microsoft.com/office/powerpoint/2010/main" val="16757478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v4-text-14">
            <a:extLst xmlns:a="http://schemas.openxmlformats.org/drawingml/2006/main">
              <a:ext uri="{FF2B5EF4-FFF2-40B4-BE49-F238E27FC236}">
                <a16:creationId xmlns:a16="http://schemas.microsoft.com/office/drawing/2014/main" id="{AFB071B5-D459-4BEA-A0A9-7C56B13A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一次任务在系统中如何流转</a:t>
            </a:r>
          </a:p>
        </p:txBody>
      </p:sp>
      <p:sp>
        <p:nvSpPr>
          <p:cNvPr id="2" name="v4-text-15">
            <a:extLst xmlns:a="http://schemas.openxmlformats.org/drawingml/2006/main">
              <a:ext uri="{FF2B5EF4-FFF2-40B4-BE49-F238E27FC236}">
                <a16:creationId xmlns:a16="http://schemas.microsoft.com/office/drawing/2014/main" id="{DA22EC3C-7C2D-450D-9075-F83320AF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858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示例：外部系统派发资料整理任务，并让负责人走到员工旁交代</a:t>
            </a:r>
          </a:p>
        </p:txBody>
      </p:sp>
      <p:sp>
        <p:nvSpPr>
          <p:cNvPr id="3" name="v4-text-16">
            <a:extLst xmlns:a="http://schemas.openxmlformats.org/drawingml/2006/main">
              <a:ext uri="{FF2B5EF4-FFF2-40B4-BE49-F238E27FC236}">
                <a16:creationId xmlns:a16="http://schemas.microsoft.com/office/drawing/2014/main" id="{23B83CCC-D63C-4AE4-B177-5211E5AE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103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4" name="v4-diagram-17">
            <a:extLst xmlns:a="http://schemas.openxmlformats.org/drawingml/2006/main">
              <a:ext uri="{FF2B5EF4-FFF2-40B4-BE49-F238E27FC236}">
                <a16:creationId xmlns:a16="http://schemas.microsoft.com/office/drawing/2014/main" id="{B30EFE30-BF2C-4D25-AE89-8F4A1A02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2019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外部派单</a:t>
            </a:r>
          </a:p>
        </p:txBody>
      </p:sp>
      <p:sp>
        <p:nvSpPr>
          <p:cNvPr id="5" name="v4-diagram-18">
            <a:extLst xmlns:a="http://schemas.openxmlformats.org/drawingml/2006/main">
              <a:ext uri="{FF2B5EF4-FFF2-40B4-BE49-F238E27FC236}">
                <a16:creationId xmlns:a16="http://schemas.microsoft.com/office/drawing/2014/main" id="{BD7FA8ED-2578-4CE2-94CD-B386394E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152650"/>
            <a:ext cx="2019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场景交代</a:t>
            </a:r>
          </a:p>
        </p:txBody>
      </p:sp>
      <p:sp>
        <p:nvSpPr>
          <p:cNvPr id="6" name="v4-diagram-19">
            <a:extLst xmlns:a="http://schemas.openxmlformats.org/drawingml/2006/main">
              <a:ext uri="{FF2B5EF4-FFF2-40B4-BE49-F238E27FC236}">
                <a16:creationId xmlns:a16="http://schemas.microsoft.com/office/drawing/2014/main" id="{27E28E63-2EEF-47E2-8606-06F8AB8E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52650"/>
            <a:ext cx="2019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业务执行</a:t>
            </a:r>
          </a:p>
        </p:txBody>
      </p:sp>
      <p:sp>
        <p:nvSpPr>
          <p:cNvPr id="7" name="v4-diagram-20">
            <a:extLst xmlns:a="http://schemas.openxmlformats.org/drawingml/2006/main">
              <a:ext uri="{FF2B5EF4-FFF2-40B4-BE49-F238E27FC236}">
                <a16:creationId xmlns:a16="http://schemas.microsoft.com/office/drawing/2014/main" id="{09DFF64D-4904-49E5-944B-435A11A4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152650"/>
            <a:ext cx="2019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同步状态</a:t>
            </a:r>
          </a:p>
        </p:txBody>
      </p:sp>
      <p:sp>
        <p:nvSpPr>
          <p:cNvPr id="8" name="v4-diagram-21">
            <a:extLst xmlns:a="http://schemas.openxmlformats.org/drawingml/2006/main">
              <a:ext uri="{FF2B5EF4-FFF2-40B4-BE49-F238E27FC236}">
                <a16:creationId xmlns:a16="http://schemas.microsoft.com/office/drawing/2014/main" id="{C29F1A10-A749-4862-BE70-C4885DEF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152650"/>
            <a:ext cx="2019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交付结果</a:t>
            </a:r>
          </a:p>
        </p:txBody>
      </p:sp>
      <p:cxnSp>
        <p:nvCxnSpPr>
          <p:cNvPr id="3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28900" y="253365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867275" y="253365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105650" y="253365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344025" y="253365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sp>
        <p:nvSpPr>
          <p:cNvPr id="13" name="v4-text-22">
            <a:extLst xmlns:a="http://schemas.openxmlformats.org/drawingml/2006/main">
              <a:ext uri="{FF2B5EF4-FFF2-40B4-BE49-F238E27FC236}">
                <a16:creationId xmlns:a16="http://schemas.microsoft.com/office/drawing/2014/main" id="{DE5C427F-9EDA-4128-906F-8ABDC5DC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2019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创建真实任务</a:t>
            </a:r>
          </a:p>
          <a:p xmlns:a="http://schemas.openxmlformats.org/drawingml/2006/main">
            <a:pPr algn="ctr"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选择参与员工</a:t>
            </a:r>
          </a:p>
        </p:txBody>
      </p:sp>
      <p:sp>
        <p:nvSpPr>
          <p:cNvPr id="14" name="v4-text-23">
            <a:extLst xmlns:a="http://schemas.openxmlformats.org/drawingml/2006/main">
              <a:ext uri="{FF2B5EF4-FFF2-40B4-BE49-F238E27FC236}">
                <a16:creationId xmlns:a16="http://schemas.microsoft.com/office/drawing/2014/main" id="{639CD1D0-3368-4597-81BB-F1252A1D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2019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预约与寻路</a:t>
            </a:r>
          </a:p>
          <a:p xmlns:a="http://schemas.openxmlformats.org/drawingml/2006/main">
            <a:pPr algn="ctr"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到位后交流</a:t>
            </a:r>
          </a:p>
        </p:txBody>
      </p:sp>
      <p:sp>
        <p:nvSpPr>
          <p:cNvPr id="15" name="v4-text-24">
            <a:extLst xmlns:a="http://schemas.openxmlformats.org/drawingml/2006/main">
              <a:ext uri="{FF2B5EF4-FFF2-40B4-BE49-F238E27FC236}">
                <a16:creationId xmlns:a16="http://schemas.microsoft.com/office/drawing/2014/main" id="{AD0EA69A-A5FB-42B0-BA2D-2CE7FAE6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43250"/>
            <a:ext cx="2019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Agent 或程序</a:t>
            </a:r>
          </a:p>
          <a:p xmlns:a="http://schemas.openxmlformats.org/drawingml/2006/main">
            <a:pPr algn="ctr"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执行真实工作</a:t>
            </a:r>
          </a:p>
        </p:txBody>
      </p:sp>
      <p:sp>
        <p:nvSpPr>
          <p:cNvPr id="16" name="v4-text-25">
            <a:extLst xmlns:a="http://schemas.openxmlformats.org/drawingml/2006/main">
              <a:ext uri="{FF2B5EF4-FFF2-40B4-BE49-F238E27FC236}">
                <a16:creationId xmlns:a16="http://schemas.microsoft.com/office/drawing/2014/main" id="{9B06DBD6-EE60-4469-9197-243934A1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2019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更新任务与员工</a:t>
            </a:r>
          </a:p>
          <a:p xmlns:a="http://schemas.openxmlformats.org/drawingml/2006/main">
            <a:pPr algn="ctr"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播放工作状态</a:t>
            </a:r>
          </a:p>
        </p:txBody>
      </p:sp>
      <p:sp>
        <p:nvSpPr>
          <p:cNvPr id="17" name="v4-text-26">
            <a:extLst xmlns:a="http://schemas.openxmlformats.org/drawingml/2006/main">
              <a:ext uri="{FF2B5EF4-FFF2-40B4-BE49-F238E27FC236}">
                <a16:creationId xmlns:a16="http://schemas.microsoft.com/office/drawing/2014/main" id="{421E5091-05BA-4510-9435-AFCA6171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2019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业务确认完成</a:t>
            </a:r>
          </a:p>
          <a:p xmlns:a="http://schemas.openxmlformats.org/drawingml/2006/main">
            <a:pPr algn="ctr"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应用展示产出</a:t>
            </a:r>
          </a:p>
        </p:txBody>
      </p:sp>
      <p:sp>
        <p:nvSpPr>
          <p:cNvPr id="18" name="v4-text-27">
            <a:extLst xmlns:a="http://schemas.openxmlformats.org/drawingml/2006/main">
              <a:ext uri="{FF2B5EF4-FFF2-40B4-BE49-F238E27FC236}">
                <a16:creationId xmlns:a16="http://schemas.microsoft.com/office/drawing/2014/main" id="{BD7A0F1A-DD80-49A7-BD68-FCC627EC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外部系统</a:t>
            </a:r>
          </a:p>
        </p:txBody>
      </p:sp>
      <p:sp>
        <p:nvSpPr>
          <p:cNvPr id="19" name="v4-text-28">
            <a:extLst xmlns:a="http://schemas.openxmlformats.org/drawingml/2006/main">
              <a:ext uri="{FF2B5EF4-FFF2-40B4-BE49-F238E27FC236}">
                <a16:creationId xmlns:a16="http://schemas.microsoft.com/office/drawing/2014/main" id="{B434FD65-47D6-4CD9-A8C1-2AF5A696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629150"/>
            <a:ext cx="8743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掌握任务进度与结果；决定何时派发场景活动。</a:t>
            </a:r>
          </a:p>
        </p:txBody>
      </p:sp>
      <p:sp>
        <p:nvSpPr>
          <p:cNvPr id="20" name="v4-text-29">
            <a:extLst xmlns:a="http://schemas.openxmlformats.org/drawingml/2006/main">
              <a:ext uri="{FF2B5EF4-FFF2-40B4-BE49-F238E27FC236}">
                <a16:creationId xmlns:a16="http://schemas.microsoft.com/office/drawing/2014/main" id="{6B28B110-0256-4A58-9F5D-EBA13167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场景运行时</a:t>
            </a:r>
          </a:p>
        </p:txBody>
      </p:sp>
      <p:sp>
        <p:nvSpPr>
          <p:cNvPr id="21" name="v4-text-30">
            <a:extLst xmlns:a="http://schemas.openxmlformats.org/drawingml/2006/main">
              <a:ext uri="{FF2B5EF4-FFF2-40B4-BE49-F238E27FC236}">
                <a16:creationId xmlns:a16="http://schemas.microsoft.com/office/drawing/2014/main" id="{EEC78AA9-ECC6-4A99-9B4F-6F22F325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219700"/>
            <a:ext cx="8743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掌握人物位置与活动；回报成功、失败或取消。</a:t>
            </a:r>
          </a:p>
        </p:txBody>
      </p:sp>
      <p:sp>
        <p:nvSpPr>
          <p:cNvPr id="22" name="v4-text-31">
            <a:extLst xmlns:a="http://schemas.openxmlformats.org/drawingml/2006/main">
              <a:ext uri="{FF2B5EF4-FFF2-40B4-BE49-F238E27FC236}">
                <a16:creationId xmlns:a16="http://schemas.microsoft.com/office/drawing/2014/main" id="{FBE58504-6DA8-4A5A-9D31-36863AAC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交谈动画结束，不等于员工接受了真实业务任务。</a:t>
            </a:r>
          </a:p>
        </p:txBody>
      </p:sp>
    </p:spTree>
    <p:extLst>
      <p:ext uri="{BB962C8B-B14F-4D97-AF65-F5344CB8AC3E}">
        <p14:creationId xmlns:p14="http://schemas.microsoft.com/office/powerpoint/2010/main" val="11527460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v4-text-32">
            <a:extLst xmlns:a="http://schemas.openxmlformats.org/drawingml/2006/main">
              <a:ext uri="{FF2B5EF4-FFF2-40B4-BE49-F238E27FC236}">
                <a16:creationId xmlns:a16="http://schemas.microsoft.com/office/drawing/2014/main" id="{D3EB96A1-867E-46A9-A459-BFEB670C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架构原则：变化有明确归属</a:t>
            </a:r>
          </a:p>
        </p:txBody>
      </p:sp>
      <p:sp>
        <p:nvSpPr>
          <p:cNvPr id="2" name="v4-text-33">
            <a:extLst xmlns:a="http://schemas.openxmlformats.org/drawingml/2006/main">
              <a:ext uri="{FF2B5EF4-FFF2-40B4-BE49-F238E27FC236}">
                <a16:creationId xmlns:a16="http://schemas.microsoft.com/office/drawing/2014/main" id="{A8BD6D68-7802-452D-85C8-7EA2902D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858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高频变化发生在边缘，跨场景稳定的规则留在中心</a:t>
            </a:r>
          </a:p>
        </p:txBody>
      </p:sp>
      <p:sp>
        <p:nvSpPr>
          <p:cNvPr id="3" name="v4-text-34">
            <a:extLst xmlns:a="http://schemas.openxmlformats.org/drawingml/2006/main">
              <a:ext uri="{FF2B5EF4-FFF2-40B4-BE49-F238E27FC236}">
                <a16:creationId xmlns:a16="http://schemas.microsoft.com/office/drawing/2014/main" id="{6B758666-05AA-4556-AAE4-6AF95653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103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4" name="v4-diagram-35">
            <a:extLst xmlns:a="http://schemas.openxmlformats.org/drawingml/2006/main">
              <a:ext uri="{FF2B5EF4-FFF2-40B4-BE49-F238E27FC236}">
                <a16:creationId xmlns:a16="http://schemas.microsoft.com/office/drawing/2014/main" id="{B313CF8D-6EC9-4FF7-83D2-F63F767E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7143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人物、家具、界面、业务与动作素材</a:t>
            </a:r>
          </a:p>
        </p:txBody>
      </p:sp>
      <p:sp>
        <p:nvSpPr>
          <p:cNvPr id="5" name="v4-diagram-36">
            <a:extLst xmlns:a="http://schemas.openxmlformats.org/drawingml/2006/main">
              <a:ext uri="{FF2B5EF4-FFF2-40B4-BE49-F238E27FC236}">
                <a16:creationId xmlns:a16="http://schemas.microsoft.com/office/drawing/2014/main" id="{4CEBD74F-96EC-4C63-8E6E-C6E72F89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9565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命令、状态、能力与扩展接口</a:t>
            </a:r>
          </a:p>
        </p:txBody>
      </p:sp>
      <p:sp>
        <p:nvSpPr>
          <p:cNvPr id="6" name="v4-diagram-37">
            <a:extLst xmlns:a="http://schemas.openxmlformats.org/drawingml/2006/main">
              <a:ext uri="{FF2B5EF4-FFF2-40B4-BE49-F238E27FC236}">
                <a16:creationId xmlns:a16="http://schemas.microsoft.com/office/drawing/2014/main" id="{B15C2D4D-045E-4CB5-BA78-5AE9162F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619625"/>
            <a:ext cx="4667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B55"/>
          </a:solidFill>
          <a:ln xmlns:a="http://schemas.openxmlformats.org/drawingml/2006/main" w="9525">
            <a:solidFill>
              <a:srgbClr val="386B55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状态一致性、生命周期、资源约束</a:t>
            </a:r>
          </a:p>
        </p:txBody>
      </p:sp>
      <p:cxnSp>
        <p:nvCxnSpPr>
          <p:cNvPr id="22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4181475" y="2733675"/>
            <a:ext cx="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4181475" y="4076700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sp>
        <p:nvSpPr>
          <p:cNvPr id="9" name="v4-text-38">
            <a:extLst xmlns:a="http://schemas.openxmlformats.org/drawingml/2006/main">
              <a:ext uri="{FF2B5EF4-FFF2-40B4-BE49-F238E27FC236}">
                <a16:creationId xmlns:a16="http://schemas.microsoft.com/office/drawing/2014/main" id="{8B93E281-C2EA-4BDC-92A5-8ACD0F70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9775"/>
            <a:ext cx="2905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边缘可替换</a:t>
            </a:r>
          </a:p>
        </p:txBody>
      </p:sp>
      <p:sp>
        <p:nvSpPr>
          <p:cNvPr id="10" name="v4-text-39">
            <a:extLst xmlns:a="http://schemas.openxmlformats.org/drawingml/2006/main">
              <a:ext uri="{FF2B5EF4-FFF2-40B4-BE49-F238E27FC236}">
                <a16:creationId xmlns:a16="http://schemas.microsoft.com/office/drawing/2014/main" id="{D32E2568-D0EE-43BB-8A95-C28B1E23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95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容纳不同变化原因</a:t>
            </a:r>
          </a:p>
        </p:txBody>
      </p:sp>
      <p:sp>
        <p:nvSpPr>
          <p:cNvPr id="11" name="v4-text-40">
            <a:extLst xmlns:a="http://schemas.openxmlformats.org/drawingml/2006/main">
              <a:ext uri="{FF2B5EF4-FFF2-40B4-BE49-F238E27FC236}">
                <a16:creationId xmlns:a16="http://schemas.microsoft.com/office/drawing/2014/main" id="{D75838BD-FCDB-4938-BE53-6FD42159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24225"/>
            <a:ext cx="2905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契约稳定语义</a:t>
            </a:r>
          </a:p>
        </p:txBody>
      </p:sp>
      <p:sp>
        <p:nvSpPr>
          <p:cNvPr id="12" name="v4-text-41">
            <a:extLst xmlns:a="http://schemas.openxmlformats.org/drawingml/2006/main">
              <a:ext uri="{FF2B5EF4-FFF2-40B4-BE49-F238E27FC236}">
                <a16:creationId xmlns:a16="http://schemas.microsoft.com/office/drawing/2014/main" id="{9F585F66-AF0C-4591-B823-EA319D4A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不固定实现细节</a:t>
            </a:r>
          </a:p>
        </p:txBody>
      </p:sp>
      <p:sp>
        <p:nvSpPr>
          <p:cNvPr id="13" name="v4-text-42">
            <a:extLst xmlns:a="http://schemas.openxmlformats.org/drawingml/2006/main">
              <a:ext uri="{FF2B5EF4-FFF2-40B4-BE49-F238E27FC236}">
                <a16:creationId xmlns:a16="http://schemas.microsoft.com/office/drawing/2014/main" id="{08B7BC6B-BC93-4076-868D-A6B95719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48200"/>
            <a:ext cx="2905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中心维护规则</a:t>
            </a:r>
          </a:p>
        </p:txBody>
      </p:sp>
      <p:sp>
        <p:nvSpPr>
          <p:cNvPr id="14" name="v4-text-43">
            <a:extLst xmlns:a="http://schemas.openxmlformats.org/drawingml/2006/main">
              <a:ext uri="{FF2B5EF4-FFF2-40B4-BE49-F238E27FC236}">
                <a16:creationId xmlns:a16="http://schemas.microsoft.com/office/drawing/2014/main" id="{4846AE15-983D-4ED6-8EFC-1C2DBAD7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339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必要时受控演进</a:t>
            </a:r>
          </a:p>
        </p:txBody>
      </p:sp>
      <p:sp>
        <p:nvSpPr>
          <p:cNvPr id="15" name="v4-text-44">
            <a:extLst xmlns:a="http://schemas.openxmlformats.org/drawingml/2006/main">
              <a:ext uri="{FF2B5EF4-FFF2-40B4-BE49-F238E27FC236}">
                <a16:creationId xmlns:a16="http://schemas.microsoft.com/office/drawing/2014/main" id="{1507DFA1-8FFB-430A-87A3-D3D8DDDB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评价一次改动：是否只修改了与这个变化原因有关的模块？</a:t>
            </a:r>
          </a:p>
        </p:txBody>
      </p:sp>
    </p:spTree>
    <p:extLst>
      <p:ext uri="{BB962C8B-B14F-4D97-AF65-F5344CB8AC3E}">
        <p14:creationId xmlns:p14="http://schemas.microsoft.com/office/powerpoint/2010/main" val="12847351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v4-text-45">
            <a:extLst xmlns:a="http://schemas.openxmlformats.org/drawingml/2006/main">
              <a:ext uri="{FF2B5EF4-FFF2-40B4-BE49-F238E27FC236}">
                <a16:creationId xmlns:a16="http://schemas.microsoft.com/office/drawing/2014/main" id="{57E45B57-EFF5-4ABC-8747-8BF5FD45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系统架构总览</a:t>
            </a:r>
          </a:p>
        </p:txBody>
      </p:sp>
      <p:sp>
        <p:nvSpPr>
          <p:cNvPr id="2" name="v4-text-46">
            <a:extLst xmlns:a="http://schemas.openxmlformats.org/drawingml/2006/main">
              <a:ext uri="{FF2B5EF4-FFF2-40B4-BE49-F238E27FC236}">
                <a16:creationId xmlns:a16="http://schemas.microsoft.com/office/drawing/2014/main" id="{5783335E-32C6-4CC1-A0EA-752AA60D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858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场景命令进入运行时，状态与事件驱动画面；制作系统独立发布内容</a:t>
            </a:r>
          </a:p>
        </p:txBody>
      </p:sp>
      <p:sp>
        <p:nvSpPr>
          <p:cNvPr id="3" name="v4-text-47">
            <a:extLst xmlns:a="http://schemas.openxmlformats.org/drawingml/2006/main">
              <a:ext uri="{FF2B5EF4-FFF2-40B4-BE49-F238E27FC236}">
                <a16:creationId xmlns:a16="http://schemas.microsoft.com/office/drawing/2014/main" id="{CC6E557A-4E3D-49C5-B822-F59D132F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103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4" name="v4-diagram-48">
            <a:extLst xmlns:a="http://schemas.openxmlformats.org/drawingml/2006/main">
              <a:ext uri="{FF2B5EF4-FFF2-40B4-BE49-F238E27FC236}">
                <a16:creationId xmlns:a16="http://schemas.microsoft.com/office/drawing/2014/main" id="{8251270E-DFF6-4ED0-8771-087B09DE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6715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外部业务 / Agent / 用户界面</a:t>
            </a:r>
          </a:p>
        </p:txBody>
      </p:sp>
      <p:sp>
        <p:nvSpPr>
          <p:cNvPr id="5" name="v4-diagram-49">
            <a:extLst xmlns:a="http://schemas.openxmlformats.org/drawingml/2006/main">
              <a:ext uri="{FF2B5EF4-FFF2-40B4-BE49-F238E27FC236}">
                <a16:creationId xmlns:a16="http://schemas.microsoft.com/office/drawing/2014/main" id="{D3EC89FC-6BBA-44C5-BD8C-F0294DD1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6715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场景接入适配与公共协议</a:t>
            </a:r>
          </a:p>
        </p:txBody>
      </p:sp>
      <p:sp>
        <p:nvSpPr>
          <p:cNvPr id="6" name="v4-diagram-50">
            <a:extLst xmlns:a="http://schemas.openxmlformats.org/drawingml/2006/main">
              <a:ext uri="{FF2B5EF4-FFF2-40B4-BE49-F238E27FC236}">
                <a16:creationId xmlns:a16="http://schemas.microsoft.com/office/drawing/2014/main" id="{63CA6470-B0E9-4CAA-B803-4FC03A9F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6715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B55"/>
          </a:solidFill>
          <a:ln xmlns:a="http://schemas.openxmlformats.org/drawingml/2006/main" w="9525">
            <a:solidFill>
              <a:srgbClr val="386B55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场景运行时</a:t>
            </a:r>
          </a:p>
          <a:p xmlns:a="http://schemas.openxmlformats.org/drawingml/2006/main">
            <a:pPr algn="ctr">
              <a:defRPr sz="20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状态、调度、占用、移动和交互校验</a:t>
            </a:r>
          </a:p>
        </p:txBody>
      </p:sp>
      <p:sp>
        <p:nvSpPr>
          <p:cNvPr id="7" name="v4-diagram-51">
            <a:extLst xmlns:a="http://schemas.openxmlformats.org/drawingml/2006/main">
              <a:ext uri="{FF2B5EF4-FFF2-40B4-BE49-F238E27FC236}">
                <a16:creationId xmlns:a16="http://schemas.microsoft.com/office/drawing/2014/main" id="{8E0B89BB-27B9-4DFB-A1FF-FC5749F8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67151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只读场景状态与事件</a:t>
            </a:r>
          </a:p>
          <a:p xmlns:a="http://schemas.openxmlformats.org/drawingml/2006/main">
            <a:pPr algn="ctr">
              <a:defRPr sz="195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Pixi 场景、人物动画与交互</a:t>
            </a:r>
          </a:p>
        </p:txBody>
      </p:sp>
      <p:cxnSp>
        <p:nvCxnSpPr>
          <p:cNvPr id="26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3967163" y="228600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967163" y="3362325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967163" y="4638675"/>
            <a:ext cx="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sp>
        <p:nvSpPr>
          <p:cNvPr id="11" name="v4-diagram-52">
            <a:extLst xmlns:a="http://schemas.openxmlformats.org/drawingml/2006/main">
              <a:ext uri="{FF2B5EF4-FFF2-40B4-BE49-F238E27FC236}">
                <a16:creationId xmlns:a16="http://schemas.microsoft.com/office/drawing/2014/main" id="{5D21487D-A731-4B95-9E8D-CEAD3C6E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38300"/>
            <a:ext cx="33147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制作工具</a:t>
            </a:r>
          </a:p>
          <a:p xmlns:a="http://schemas.openxmlformats.org/drawingml/2006/main">
            <a:pPr algn="ctr">
              <a:def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编辑、审计、预览与验收</a:t>
            </a:r>
          </a:p>
        </p:txBody>
      </p:sp>
      <p:sp>
        <p:nvSpPr>
          <p:cNvPr id="12" name="v4-diagram-53">
            <a:extLst xmlns:a="http://schemas.openxmlformats.org/drawingml/2006/main">
              <a:ext uri="{FF2B5EF4-FFF2-40B4-BE49-F238E27FC236}">
                <a16:creationId xmlns:a16="http://schemas.microsoft.com/office/drawing/2014/main" id="{DAA00DCA-025F-4E73-804D-EB32C05C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90950"/>
            <a:ext cx="33147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发布的内容包</a:t>
            </a:r>
          </a:p>
          <a:p xmlns:a="http://schemas.openxmlformats.org/drawingml/2006/main">
            <a:pPr algn="ctr">
              <a:def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定义、行为与视觉资源</a:t>
            </a:r>
          </a:p>
        </p:txBody>
      </p:sp>
      <p:cxnSp>
        <p:nvCxnSpPr>
          <p:cNvPr id="31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9925050" y="2466975"/>
            <a:ext cx="0" cy="1323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sp>
        <p:nvSpPr>
          <p:cNvPr id="14" name="v4-text-54">
            <a:extLst xmlns:a="http://schemas.openxmlformats.org/drawingml/2006/main">
              <a:ext uri="{FF2B5EF4-FFF2-40B4-BE49-F238E27FC236}">
                <a16:creationId xmlns:a16="http://schemas.microsoft.com/office/drawing/2014/main" id="{55DE12C3-B56C-465D-A970-CC91862F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88607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版本化发布</a:t>
            </a:r>
          </a:p>
        </p:txBody>
      </p:sp>
      <p:cxnSp>
        <p:nvCxnSpPr>
          <p:cNvPr id="33" name=""/>
          <p:cNvCxnSpPr>
            <a:stCxn xmlns:a="http://schemas.openxmlformats.org/drawingml/2006/main" id="12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324725" y="4224338"/>
            <a:ext cx="942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sp>
        <p:nvSpPr>
          <p:cNvPr id="16" name="v4-text-55">
            <a:extLst xmlns:a="http://schemas.openxmlformats.org/drawingml/2006/main">
              <a:ext uri="{FF2B5EF4-FFF2-40B4-BE49-F238E27FC236}">
                <a16:creationId xmlns:a16="http://schemas.microsoft.com/office/drawing/2014/main" id="{39C8D5F9-F994-4F74-BE7C-B1A01F4E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876675"/>
            <a:ext cx="628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定义</a:t>
            </a:r>
          </a:p>
        </p:txBody>
      </p:sp>
      <p:sp>
        <p:nvSpPr>
          <p:cNvPr id="17" name="v4-text-56">
            <a:extLst xmlns:a="http://schemas.openxmlformats.org/drawingml/2006/main">
              <a:ext uri="{FF2B5EF4-FFF2-40B4-BE49-F238E27FC236}">
                <a16:creationId xmlns:a16="http://schemas.microsoft.com/office/drawing/2014/main" id="{5375ACFD-4E13-4796-B11A-283327CD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33975"/>
            <a:ext cx="3314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渲染器按需加载视觉资源。</a:t>
            </a:r>
          </a:p>
          <a:p xmlns:a="http://schemas.openxmlformats.org/drawingml/2006/main">
            <a:pPr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制作工具不进入逐帧循环。</a:t>
            </a:r>
          </a:p>
        </p:txBody>
      </p:sp>
      <p:sp>
        <p:nvSpPr>
          <p:cNvPr id="18" name="v4-text-57">
            <a:extLst xmlns:a="http://schemas.openxmlformats.org/drawingml/2006/main">
              <a:ext uri="{FF2B5EF4-FFF2-40B4-BE49-F238E27FC236}">
                <a16:creationId xmlns:a16="http://schemas.microsoft.com/office/drawing/2014/main" id="{F47AF145-24C7-4609-AB56-DBB76463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6715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业务看板直接读取外部业务数据。</a:t>
            </a:r>
          </a:p>
        </p:txBody>
      </p:sp>
    </p:spTree>
    <p:extLst>
      <p:ext uri="{BB962C8B-B14F-4D97-AF65-F5344CB8AC3E}">
        <p14:creationId xmlns:p14="http://schemas.microsoft.com/office/powerpoint/2010/main" val="17533838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CB4A3-1B90-4F80-AC74-E319C139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功能与模块如何对应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2936C-F529-4EC7-87B6-AC4DD502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40195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71700"/>
                <a:gridCol w="4400550"/>
                <a:gridCol w="4400550"/>
              </a:tblGrid>
              <a:tr h="4762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产品功能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负责模块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主要边界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</a:tr>
              <a:tr h="70866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业务看板与接入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应用、业务适配、协议入口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外部任务状态不混入动画状态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走动与家具使用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调度、空间、导航、资源预约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算法可替换，合法性统一校验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人物与办公画面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动画播放器、物品视图、资源加载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渲染读取状态，不反向控制业务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地图编辑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地图草稿、编辑事务、编辑界面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人与 AI 共用命令及校验规则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内容扩展与发布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内容注册、能力检查、制作工具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内容定义与制作流程独立演进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B3422-DAEF-4EC6-90CF-AD1FF796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14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一个功能可以跨多个模块；每个模块只承担明确的一段职责。</a:t>
            </a:r>
          </a:p>
        </p:txBody>
      </p:sp>
    </p:spTree>
    <p:extLst>
      <p:ext uri="{BB962C8B-B14F-4D97-AF65-F5344CB8AC3E}">
        <p14:creationId xmlns:p14="http://schemas.microsoft.com/office/powerpoint/2010/main" val="20147237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715F2-C4EE-43A1-BE11-33EB8C77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稳定内核与可选模块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D6896-D0C4-4AEA-99C4-175C6CBB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33675"/>
                <a:gridCol w="8239125"/>
              </a:tblGrid>
              <a:tr h="4762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模块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必须统一的责任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</a:tr>
              <a:tr h="61912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契约与校验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命令身份、参数校验、能力匹配与错误语义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世界与实体状态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人物、物品、地图及唯一权威状态更新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调度与资源占用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排队、同步、取消、超时和可靠释放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空间与活动执行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路线合法、到位条件、姿态语义与阶段推进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地图编辑模块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共享草稿、撤销重做、布局校验与版本冲突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扩展注册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能力发现、依赖检查、兼容性与生命周期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70C72-FAD8-40A0-B698-AF4C9A45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14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地图编辑可选加载；图片帧播放和具体家具流程留在边缘。</a:t>
            </a:r>
          </a:p>
        </p:txBody>
      </p:sp>
    </p:spTree>
    <p:extLst>
      <p:ext uri="{BB962C8B-B14F-4D97-AF65-F5344CB8AC3E}">
        <p14:creationId xmlns:p14="http://schemas.microsoft.com/office/powerpoint/2010/main" val="5484828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9FBEAE-0D11-47BF-8BB1-8808761B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三类扩展边界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ACD04-C01C-4C74-B945-02C6A766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04538-47EA-4290-A421-0D201360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A8906-4AF1-4005-B691-556E7ECA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32099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基础模块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9537D-0D81-4BB2-A6B6-0754946B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3209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统一规则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9EB63-6A7A-4D4C-A957-D7EA0348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33051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世界状态、调度、空间约束</a:t>
            </a:r>
          </a:p>
          <a:p xmlns:a="http://schemas.openxmlformats.org/drawingml/2006/main">
            <a:pPr>
              <a:buNone/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以及稳定的扩展接口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0B5BE-561E-4887-88D8-1D4C282C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3305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由核心集中维护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18443-680F-40C2-A461-0D0271A3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6687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EC3DE0-6C4F-48DA-AD9A-0BB8CE09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47925"/>
            <a:ext cx="32099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适配器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EE01D7-2231-4192-8CFA-EDFA83D7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90875"/>
            <a:ext cx="3209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替换实现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DD248E-A9F3-4B30-8F06-4A8C5DA6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19525"/>
            <a:ext cx="33051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寻路、渲染、通信、存储</a:t>
            </a:r>
          </a:p>
          <a:p xmlns:a="http://schemas.openxmlformats.org/drawingml/2006/main">
            <a:pPr>
              <a:buNone/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通过接口注入实现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F3F92A-318A-4D59-94E4-4C43F0A5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238750"/>
            <a:ext cx="3305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遵守同一输入输出约定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A4F6A-80B5-4897-AA34-5797809F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66687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4A88E8-966D-4CAE-A6E9-532F59DA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447925"/>
            <a:ext cx="32099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插件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C68482-1001-414B-8273-B5D72315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190875"/>
            <a:ext cx="3209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增加能力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26CD2D-32FC-474E-A23A-BA59F4C4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3051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复杂行为和专用物品视图</a:t>
            </a:r>
          </a:p>
          <a:p xmlns:a="http://schemas.openxmlformats.org/drawingml/2006/main">
            <a:pPr>
              <a:buNone/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通过注册机制接入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DF9B8F-29F4-4FD0-8994-D8D5EE43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238750"/>
            <a:ext cx="3305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声明依赖与兼容版本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339DCF-5CAA-497D-B2A0-6D73D0F6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14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普通内容优先用数据包；代码插件额外承担生命周期与兼容性。</a:t>
            </a:r>
          </a:p>
        </p:txBody>
      </p:sp>
    </p:spTree>
    <p:extLst>
      <p:ext uri="{BB962C8B-B14F-4D97-AF65-F5344CB8AC3E}">
        <p14:creationId xmlns:p14="http://schemas.microsoft.com/office/powerpoint/2010/main" val="21159760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17593-E75F-4555-9451-400FA468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可替换适配器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981A7-FAE1-4337-9446-465CF479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4038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52675"/>
                <a:gridCol w="4286250"/>
                <a:gridCol w="4333875"/>
              </a:tblGrid>
              <a:tr h="4762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适配器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可替换的实现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统一约束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</a:tr>
              <a:tr h="71247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Navigation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四方向 A*、其他网格寻路器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路径合法、避障和到位条件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247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Renderer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Pixi；未来可替换的渲染后端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只读场景状态与表现语义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247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Transport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直接调用、HTTP、iframe、IPC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命令身份、校验、回执与结果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247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Storage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浏览器、文件、SQLite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存档结构、版本和迁移校验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247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Asset Source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本地目录、打包资源、远程资源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资源清单、版本与能力校验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9E2F0-5E54-465A-905A-4FF66CE7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14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按需实现并由应用注入；表中的候选后端不代表当前全部支持。</a:t>
            </a:r>
          </a:p>
        </p:txBody>
      </p:sp>
    </p:spTree>
    <p:extLst>
      <p:ext uri="{BB962C8B-B14F-4D97-AF65-F5344CB8AC3E}">
        <p14:creationId xmlns:p14="http://schemas.microsoft.com/office/powerpoint/2010/main" val="4833524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D55254-D212-40F4-A8DC-ABB9FB6B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内容与行为插件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89F2B2-4A27-4471-B70D-7C3BF08E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85975"/>
                <a:gridCol w="4552950"/>
                <a:gridCol w="4333875"/>
              </a:tblGrid>
              <a:tr h="4762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插件类型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声明内容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典型扩展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</a:tr>
              <a:tr h="6286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场景包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默认地图、模板组合、规则配置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办公室、公寓、工厂、医院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家具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底部占地、交互位置、状态结构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工位、白板、饮水机、跑步机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行为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参与者、前置条件、资源与执行阶段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拜访、讨论、取水、持续工作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角色资源包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贴图、动作、锚点、比例与能力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增加人物或补充动作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物品视图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状态到画面的映射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白板文字、电脑画面、指示灯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编辑器扩展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目录、属性面板、操作工具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新增家具属性与专用编辑工具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F3261-EFAB-44C9-8F40-E2DCC03D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14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人物和家具优先采用数据包；医院、工厂等为未来扩展示例。</a:t>
            </a:r>
          </a:p>
        </p:txBody>
      </p:sp>
    </p:spTree>
    <p:extLst>
      <p:ext uri="{BB962C8B-B14F-4D97-AF65-F5344CB8AC3E}">
        <p14:creationId xmlns:p14="http://schemas.microsoft.com/office/powerpoint/2010/main" val="12520534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1A277-9F81-447C-85CB-3E4920D5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三类契约与内容版本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E71A5-F4B0-4E5A-97C3-464E853C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3352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33625"/>
                <a:gridCol w="5153025"/>
                <a:gridCol w="3486150"/>
              </a:tblGrid>
              <a:tr h="4762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契约对象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必须约定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不满足时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</a:tr>
              <a:tr h="719138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对外协议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命令身份、参数、回执、事件与版本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拒绝、去重或报告冲突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9138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行为契约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参与者、资源、阶段、姿态与结束方式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拒绝、排队或取消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9138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表现契约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动作能力、朝向、锚点、比例与接触点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报告缺失，不伪装支持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9138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内容版本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清单、资源指纹、兼容范围和验收记录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拒绝发布或恢复旧版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CA2C4-A8F6-4171-9E15-E33C9715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示例：接待人只支持左右转头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D8AED-3A80-4AE6-BF2C-FEFD0A8E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运行时只选择可达且兼容的交流位置，渲染器按约定展示正确姿态。</a:t>
            </a:r>
          </a:p>
        </p:txBody>
      </p:sp>
    </p:spTree>
    <p:extLst>
      <p:ext uri="{BB962C8B-B14F-4D97-AF65-F5344CB8AC3E}">
        <p14:creationId xmlns:p14="http://schemas.microsoft.com/office/powerpoint/2010/main" val="7094571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3C981-B8E8-40DE-BC47-99EFE484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四个主要代码包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CA5D1-1C56-4F88-9CAE-7C22B8EC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F8F6C2-0F4A-47BA-B899-FF97191D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74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先建立单仓库边界，再按复用需求发布 npm 包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705225"/>
                <a:gridCol w="3895725"/>
                <a:gridCol w="3371850"/>
              </a:tblGrid>
              <a:tr h="4762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建议包名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主要内容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内部依赖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</a:tr>
              <a:tr h="738188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@ai-office/contracts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公共协议、基础类型与扩展接口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无其他内部包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@ai-office/runtime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状态、活动、空间和资源约束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contracts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@ai-office/renderer-pixi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渲染、动画、资源与输入转换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contracts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@ai-office/office-pack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办公室定义、行为与资源清单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logic 依赖 contracts</a:t>
                      </a:r>
                    </a:p>
                    <a:p>
                      <a:r>
                        <a:rPr sz="172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visual 可依赖 renderer-pixi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D3646F-A175-4F65-9027-5443BCF8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2143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应用负责组装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5605E-3FD2-45E1-9779-08CAF0FE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591175"/>
            <a:ext cx="8296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React 界面、宿主集成和业务适配留在应用层。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E3028-E4ED-4E73-8A5C-5D38CA2B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14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包名暂定；大体积素材可独立发布，清单引用固定版本。</a:t>
            </a:r>
          </a:p>
        </p:txBody>
      </p:sp>
    </p:spTree>
    <p:extLst>
      <p:ext uri="{BB962C8B-B14F-4D97-AF65-F5344CB8AC3E}">
        <p14:creationId xmlns:p14="http://schemas.microsoft.com/office/powerpoint/2010/main" val="6429992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v4-text-58">
            <a:extLst xmlns:a="http://schemas.openxmlformats.org/drawingml/2006/main">
              <a:ext uri="{FF2B5EF4-FFF2-40B4-BE49-F238E27FC236}">
                <a16:creationId xmlns:a16="http://schemas.microsoft.com/office/drawing/2014/main" id="{08BE1099-AFA8-45D3-A25C-601C6440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包依赖与禁止事项</a:t>
            </a:r>
          </a:p>
        </p:txBody>
      </p:sp>
      <p:sp>
        <p:nvSpPr>
          <p:cNvPr id="2" name="v4-text-59">
            <a:extLst xmlns:a="http://schemas.openxmlformats.org/drawingml/2006/main">
              <a:ext uri="{FF2B5EF4-FFF2-40B4-BE49-F238E27FC236}">
                <a16:creationId xmlns:a16="http://schemas.microsoft.com/office/drawing/2014/main" id="{039FC4E9-E95B-4F96-877D-94A45AA3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858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依赖只通过公开入口；外部实现通过接口注入运行时</a:t>
            </a:r>
          </a:p>
        </p:txBody>
      </p:sp>
      <p:sp>
        <p:nvSpPr>
          <p:cNvPr id="3" name="v4-text-60">
            <a:extLst xmlns:a="http://schemas.openxmlformats.org/drawingml/2006/main">
              <a:ext uri="{FF2B5EF4-FFF2-40B4-BE49-F238E27FC236}">
                <a16:creationId xmlns:a16="http://schemas.microsoft.com/office/drawing/2014/main" id="{78A14667-753B-4946-B687-80C3BAAD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103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3962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86075"/>
                <a:gridCol w="3686175"/>
                <a:gridCol w="4400550"/>
              </a:tblGrid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边界</a:t>
                      </a:r>
                    </a:p>
                  </a:txBody>
                  <a:tcPr marL="114300" marR="114300" marT="85725" marB="85725" anchor="ctr">
                    <a:solidFill>
                      <a:srgbClr val="EDF2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允许依赖</a:t>
                      </a:r>
                    </a:p>
                  </a:txBody>
                  <a:tcPr marL="114300" marR="114300" marT="85725" marB="85725" anchor="ctr">
                    <a:solidFill>
                      <a:srgbClr val="EDF2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禁止事项</a:t>
                      </a:r>
                    </a:p>
                  </a:txBody>
                  <a:tcPr marL="114300" marR="114300" marT="85725" marB="85725" anchor="ctr">
                    <a:solidFill>
                      <a:srgbClr val="EDF2E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contracts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必要的 Schema 基础库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依赖运行时、UI 或具体素材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runtime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contracts；内部通用模块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导入 React、Pixi、HTTP 客户端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renderer-pixi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contracts、Pixi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直接修改权威状态或业务任务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office-pack / logic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contracts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导入渲染器或硬编码全局实例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office-pack / visual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contracts、renderer-pixi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绕过行为契约驱动物品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apps / office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以上公开入口与宿主适配器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跨包读取私有文件或内部状态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v4-text-61">
            <a:extLst xmlns:a="http://schemas.openxmlformats.org/drawingml/2006/main">
              <a:ext uri="{FF2B5EF4-FFF2-40B4-BE49-F238E27FC236}">
                <a16:creationId xmlns:a16="http://schemas.microsoft.com/office/drawing/2014/main" id="{3E064558-071E-46B5-8092-010988A1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应用把实现注入内核；内核不反向导入具体插件、宿主和内容。</a:t>
            </a:r>
          </a:p>
        </p:txBody>
      </p:sp>
    </p:spTree>
    <p:extLst>
      <p:ext uri="{BB962C8B-B14F-4D97-AF65-F5344CB8AC3E}">
        <p14:creationId xmlns:p14="http://schemas.microsoft.com/office/powerpoint/2010/main" val="15503334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v4-text-62">
            <a:extLst xmlns:a="http://schemas.openxmlformats.org/drawingml/2006/main">
              <a:ext uri="{FF2B5EF4-FFF2-40B4-BE49-F238E27FC236}">
                <a16:creationId xmlns:a16="http://schemas.microsoft.com/office/drawing/2014/main" id="{56C9DF38-F770-4432-94D5-CAA2B22B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建议项目目录</a:t>
            </a:r>
          </a:p>
        </p:txBody>
      </p:sp>
      <p:sp>
        <p:nvSpPr>
          <p:cNvPr id="2" name="v4-text-63">
            <a:extLst xmlns:a="http://schemas.openxmlformats.org/drawingml/2006/main">
              <a:ext uri="{FF2B5EF4-FFF2-40B4-BE49-F238E27FC236}">
                <a16:creationId xmlns:a16="http://schemas.microsoft.com/office/drawing/2014/main" id="{63F81B20-0324-44FE-814E-AACF0500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858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业务应用、可复用代码、素材内容和制作工具分开维护</a:t>
            </a:r>
          </a:p>
        </p:txBody>
      </p:sp>
      <p:sp>
        <p:nvSpPr>
          <p:cNvPr id="3" name="v4-text-64">
            <a:extLst xmlns:a="http://schemas.openxmlformats.org/drawingml/2006/main">
              <a:ext uri="{FF2B5EF4-FFF2-40B4-BE49-F238E27FC236}">
                <a16:creationId xmlns:a16="http://schemas.microsoft.com/office/drawing/2014/main" id="{578580FA-04DD-48BF-9946-A6290359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103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4143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4876800"/>
                <a:gridCol w="2857500"/>
              </a:tblGrid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目录</a:t>
                      </a:r>
                    </a:p>
                  </a:txBody>
                  <a:tcPr marL="114300" marR="114300" marT="85725" marB="85725" anchor="ctr">
                    <a:solidFill>
                      <a:srgbClr val="EDF2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主要内容</a:t>
                      </a:r>
                    </a:p>
                  </a:txBody>
                  <a:tcPr marL="114300" marR="114300" marT="85725" marB="85725" anchor="ctr">
                    <a:solidFill>
                      <a:srgbClr val="EDF2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变更责任</a:t>
                      </a:r>
                    </a:p>
                  </a:txBody>
                  <a:tcPr marL="114300" marR="114300" marT="85725" marB="85725" anchor="ctr">
                    <a:solidFill>
                      <a:srgbClr val="EDF2EF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apps/office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页面、业务接入、宿主及适配器组装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产品与应用集成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packages/contracts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公共协议、Schema、扩展接口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架构与契约维护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packages/runtime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状态、调度、空间、资源、地图逻辑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运行时维护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packages/renderer-pixi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场景渲染、动画、交互输入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视觉工程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packages/office-pack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家具与行为；logic / visual 分入口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场景与内容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content/characters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人物源素材、清单和资源版本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内容制作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tools/authoring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制作、审计、预览、验收与发布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内容工具链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v4-text-65">
            <a:extLst xmlns:a="http://schemas.openxmlformats.org/drawingml/2006/main">
              <a:ext uri="{FF2B5EF4-FFF2-40B4-BE49-F238E27FC236}">
                <a16:creationId xmlns:a16="http://schemas.microsoft.com/office/drawing/2014/main" id="{E19367FF-3FD0-4789-9062-ABEA1D6A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测试跟随所属模块；跨包契约测试与端到端样例由集成层维护。</a:t>
            </a:r>
          </a:p>
        </p:txBody>
      </p:sp>
    </p:spTree>
    <p:extLst>
      <p:ext uri="{BB962C8B-B14F-4D97-AF65-F5344CB8AC3E}">
        <p14:creationId xmlns:p14="http://schemas.microsoft.com/office/powerpoint/2010/main" val="149718626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v4-text-66">
            <a:extLst xmlns:a="http://schemas.openxmlformats.org/drawingml/2006/main">
              <a:ext uri="{FF2B5EF4-FFF2-40B4-BE49-F238E27FC236}">
                <a16:creationId xmlns:a16="http://schemas.microsoft.com/office/drawing/2014/main" id="{92E0FC1A-D256-44FB-910E-B3A6F129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变化应该落在哪里</a:t>
            </a:r>
          </a:p>
        </p:txBody>
      </p:sp>
      <p:sp>
        <p:nvSpPr>
          <p:cNvPr id="2" name="v4-text-67">
            <a:extLst xmlns:a="http://schemas.openxmlformats.org/drawingml/2006/main">
              <a:ext uri="{FF2B5EF4-FFF2-40B4-BE49-F238E27FC236}">
                <a16:creationId xmlns:a16="http://schemas.microsoft.com/office/drawing/2014/main" id="{5A41D95F-EFAE-41A4-AECB-063822D3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858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用真实扩展检验边界，而不是只检查目录名称</a:t>
            </a:r>
          </a:p>
        </p:txBody>
      </p:sp>
      <p:sp>
        <p:nvSpPr>
          <p:cNvPr id="3" name="v4-text-68">
            <a:extLst xmlns:a="http://schemas.openxmlformats.org/drawingml/2006/main">
              <a:ext uri="{FF2B5EF4-FFF2-40B4-BE49-F238E27FC236}">
                <a16:creationId xmlns:a16="http://schemas.microsoft.com/office/drawing/2014/main" id="{9121A494-26FD-458E-AAB4-ECBB53CD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103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4019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572000"/>
                <a:gridCol w="3733800"/>
              </a:tblGrid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需求变化</a:t>
                      </a:r>
                    </a:p>
                  </a:txBody>
                  <a:tcPr marL="114300" marR="114300" marT="85725" marB="85725" anchor="ctr">
                    <a:solidFill>
                      <a:srgbClr val="EDF2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主要修改位置</a:t>
                      </a:r>
                    </a:p>
                  </a:txBody>
                  <a:tcPr marL="114300" marR="114300" marT="85725" marB="85725" anchor="ctr">
                    <a:solidFill>
                      <a:srgbClr val="EDF2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不应被迫修改</a:t>
                      </a:r>
                    </a:p>
                  </a:txBody>
                  <a:tcPr marL="114300" marR="114300" marT="85725" marB="85725" anchor="ctr">
                    <a:solidFill>
                      <a:srgbClr val="EDF2E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新增一个人物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人物包、清单与素材验收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寻路与任务调度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优化敲键盘动作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动作帧、表现配置及视觉测试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业务协议与资源预约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新增饮水机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家具定义、行为和物品视图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通用占用与生命周期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替换寻路算法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导航适配器及其验证用例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人物素材与业务页面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接入新的 Agent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应用适配、业务数据映射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场景内核与渲染器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调整地图编辑界面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编辑器 UI 与输入转换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整数格和合法性规则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v4-text-69">
            <a:extLst xmlns:a="http://schemas.openxmlformats.org/drawingml/2006/main">
              <a:ext uri="{FF2B5EF4-FFF2-40B4-BE49-F238E27FC236}">
                <a16:creationId xmlns:a16="http://schemas.microsoft.com/office/drawing/2014/main" id="{1BB062D1-3303-4774-ACD6-B586F9FE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确实出现新的通用需求时，通过契约评审演进中心。</a:t>
            </a:r>
          </a:p>
        </p:txBody>
      </p:sp>
    </p:spTree>
    <p:extLst>
      <p:ext uri="{BB962C8B-B14F-4D97-AF65-F5344CB8AC3E}">
        <p14:creationId xmlns:p14="http://schemas.microsoft.com/office/powerpoint/2010/main" val="21398809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73A22F-DB43-46F9-833F-4365711A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新增饮水机的接入流程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C4CFF-8223-4C90-BB87-A3A202AB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ABDD9-8DB0-40AB-AEF7-63783FD1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6953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BA652-9A93-4E49-AFFE-CC2BFC74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3830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内容负责人声明家具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65C0A2-E0A2-4A53-855B-491F08A1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105025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定义底部占地、使用格、水量状态和一次可用人数。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59BD7-D7B9-4770-A6CF-DAA2D0E9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6953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064FB-B3A1-4C19-A872-95AEAD67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714625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行为负责人描述流程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ECA30-0494-4171-B062-2BD01750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813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声明参与者、预约需求，以及走近、使用、离开阶段。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C7CEEC-7021-4C57-85F8-44B2E68E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6953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A4622-4083-462A-9042-8466B1FC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909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视觉负责人提供动作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02BCAC-540E-4B55-AB07-F3F6EA28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57675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提供匹配姿态与朝向，通过接触点和遮挡验收。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4F890F-0307-4FDD-97B2-192758EC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6953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2BED89-44F5-48BD-BC7C-33279648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67275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集成负责人整体验收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C4010A-F727-4AF9-96D9-70194379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340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覆盖正常取水、多人排队、途中取消和缺少动作。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7968DE-D5DD-47EB-9B01-F8FDAE38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14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目标：新增内容与视图，复用内核的路线、占用和释放机制。</a:t>
            </a:r>
          </a:p>
        </p:txBody>
      </p:sp>
    </p:spTree>
    <p:extLst>
      <p:ext uri="{BB962C8B-B14F-4D97-AF65-F5344CB8AC3E}">
        <p14:creationId xmlns:p14="http://schemas.microsoft.com/office/powerpoint/2010/main" val="186807563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v4-text-70">
            <a:extLst xmlns:a="http://schemas.openxmlformats.org/drawingml/2006/main">
              <a:ext uri="{FF2B5EF4-FFF2-40B4-BE49-F238E27FC236}">
                <a16:creationId xmlns:a16="http://schemas.microsoft.com/office/drawing/2014/main" id="{6A9C8791-71E2-4E96-A020-0D384F96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人物与素材的标准化流程</a:t>
            </a:r>
          </a:p>
        </p:txBody>
      </p:sp>
      <p:sp>
        <p:nvSpPr>
          <p:cNvPr id="2" name="v4-text-71">
            <a:extLst xmlns:a="http://schemas.openxmlformats.org/drawingml/2006/main">
              <a:ext uri="{FF2B5EF4-FFF2-40B4-BE49-F238E27FC236}">
                <a16:creationId xmlns:a16="http://schemas.microsoft.com/office/drawing/2014/main" id="{A911AB44-C8D7-488B-B271-68072731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858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把图片试错留在制作侧，运行系统只消费通过验收的版本</a:t>
            </a:r>
          </a:p>
        </p:txBody>
      </p:sp>
      <p:sp>
        <p:nvSpPr>
          <p:cNvPr id="3" name="v4-text-72">
            <a:extLst xmlns:a="http://schemas.openxmlformats.org/drawingml/2006/main">
              <a:ext uri="{FF2B5EF4-FFF2-40B4-BE49-F238E27FC236}">
                <a16:creationId xmlns:a16="http://schemas.microsoft.com/office/drawing/2014/main" id="{8108C392-9048-46FF-812C-43275524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103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18</a:t>
            </a:r>
          </a:p>
        </p:txBody>
      </p:sp>
      <p:sp>
        <p:nvSpPr>
          <p:cNvPr id="4" name="v4-diagram-73">
            <a:extLst xmlns:a="http://schemas.openxmlformats.org/drawingml/2006/main">
              <a:ext uri="{FF2B5EF4-FFF2-40B4-BE49-F238E27FC236}">
                <a16:creationId xmlns:a16="http://schemas.microsoft.com/office/drawing/2014/main" id="{5B066DEE-B4DD-4DF7-B992-B2600D6C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6383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母版与规格</a:t>
            </a:r>
          </a:p>
        </p:txBody>
      </p:sp>
      <p:sp>
        <p:nvSpPr>
          <p:cNvPr id="5" name="v4-diagram-74">
            <a:extLst xmlns:a="http://schemas.openxmlformats.org/drawingml/2006/main">
              <a:ext uri="{FF2B5EF4-FFF2-40B4-BE49-F238E27FC236}">
                <a16:creationId xmlns:a16="http://schemas.microsoft.com/office/drawing/2014/main" id="{735D49E6-3382-4A9A-A3AF-FC78A2FC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14550"/>
            <a:ext cx="16383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候选素材</a:t>
            </a:r>
          </a:p>
        </p:txBody>
      </p:sp>
      <p:sp>
        <p:nvSpPr>
          <p:cNvPr id="6" name="v4-diagram-75">
            <a:extLst xmlns:a="http://schemas.openxmlformats.org/drawingml/2006/main">
              <a:ext uri="{FF2B5EF4-FFF2-40B4-BE49-F238E27FC236}">
                <a16:creationId xmlns:a16="http://schemas.microsoft.com/office/drawing/2014/main" id="{F6427E3B-A3BE-4893-AAB3-53A58D7E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14550"/>
            <a:ext cx="16383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自动审计</a:t>
            </a:r>
          </a:p>
        </p:txBody>
      </p:sp>
      <p:sp>
        <p:nvSpPr>
          <p:cNvPr id="7" name="v4-diagram-76">
            <a:extLst xmlns:a="http://schemas.openxmlformats.org/drawingml/2006/main">
              <a:ext uri="{FF2B5EF4-FFF2-40B4-BE49-F238E27FC236}">
                <a16:creationId xmlns:a16="http://schemas.microsoft.com/office/drawing/2014/main" id="{97616161-A269-481A-9F73-D59FB5F0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14550"/>
            <a:ext cx="16383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隔离预览</a:t>
            </a:r>
          </a:p>
        </p:txBody>
      </p:sp>
      <p:sp>
        <p:nvSpPr>
          <p:cNvPr id="8" name="v4-diagram-77">
            <a:extLst xmlns:a="http://schemas.openxmlformats.org/drawingml/2006/main">
              <a:ext uri="{FF2B5EF4-FFF2-40B4-BE49-F238E27FC236}">
                <a16:creationId xmlns:a16="http://schemas.microsoft.com/office/drawing/2014/main" id="{E7FF2213-7448-4FAE-8797-21B0C912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14550"/>
            <a:ext cx="16383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视觉验收</a:t>
            </a:r>
          </a:p>
        </p:txBody>
      </p:sp>
      <p:sp>
        <p:nvSpPr>
          <p:cNvPr id="9" name="v4-diagram-78">
            <a:extLst xmlns:a="http://schemas.openxmlformats.org/drawingml/2006/main">
              <a:ext uri="{FF2B5EF4-FFF2-40B4-BE49-F238E27FC236}">
                <a16:creationId xmlns:a16="http://schemas.microsoft.com/office/drawing/2014/main" id="{1DB0168E-EEDA-46F5-9EC9-E5349323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114550"/>
            <a:ext cx="16383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发布资源包</a:t>
            </a:r>
          </a:p>
        </p:txBody>
      </p:sp>
      <p:cxnSp>
        <p:nvCxnSpPr>
          <p:cNvPr id="3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247900" y="248126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114800" y="248126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81700" y="248126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848600" y="248126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715500" y="248126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sp>
        <p:nvSpPr>
          <p:cNvPr id="15" name="v4-text-79">
            <a:extLst xmlns:a="http://schemas.openxmlformats.org/drawingml/2006/main">
              <a:ext uri="{FF2B5EF4-FFF2-40B4-BE49-F238E27FC236}">
                <a16:creationId xmlns:a16="http://schemas.microsoft.com/office/drawing/2014/main" id="{0D371609-7D15-4F11-BD66-6E5C2065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210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可自动检查的规则</a:t>
            </a:r>
          </a:p>
        </p:txBody>
      </p:sp>
      <p:sp>
        <p:nvSpPr>
          <p:cNvPr id="16" name="v4-text-80">
            <a:extLst xmlns:a="http://schemas.openxmlformats.org/drawingml/2006/main">
              <a:ext uri="{FF2B5EF4-FFF2-40B4-BE49-F238E27FC236}">
                <a16:creationId xmlns:a16="http://schemas.microsoft.com/office/drawing/2014/main" id="{2A87A633-D995-4F6A-8AFC-5E10D13A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52101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画布与锚点、头身比例、动作能力、</a:t>
            </a:r>
          </a:p>
          <a:p xmlns:a="http://schemas.openxmlformats.org/drawingml/2006/main">
            <a:pPr>
              <a:def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工作帧静止区域、步态循环连续性。</a:t>
            </a:r>
          </a:p>
        </p:txBody>
      </p:sp>
      <p:sp>
        <p:nvSpPr>
          <p:cNvPr id="17" name="v4-text-81">
            <a:extLst xmlns:a="http://schemas.openxmlformats.org/drawingml/2006/main">
              <a:ext uri="{FF2B5EF4-FFF2-40B4-BE49-F238E27FC236}">
                <a16:creationId xmlns:a16="http://schemas.microsoft.com/office/drawing/2014/main" id="{EB67AB72-F681-42AC-AA6D-DE68D67A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71850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需要视觉验收的结果</a:t>
            </a:r>
          </a:p>
        </p:txBody>
      </p:sp>
      <p:sp>
        <p:nvSpPr>
          <p:cNvPr id="18" name="v4-text-82">
            <a:extLst xmlns:a="http://schemas.openxmlformats.org/drawingml/2006/main">
              <a:ext uri="{FF2B5EF4-FFF2-40B4-BE49-F238E27FC236}">
                <a16:creationId xmlns:a16="http://schemas.microsoft.com/office/drawing/2014/main" id="{3EAA06F8-50E6-4272-A254-78A7F467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51054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走路自然度、入座比例、手与桌面接触、</a:t>
            </a:r>
          </a:p>
          <a:p xmlns:a="http://schemas.openxmlformats.org/drawingml/2006/main">
            <a:pPr>
              <a:def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遮挡关系以及不同朝向的一致性。</a:t>
            </a:r>
          </a:p>
        </p:txBody>
      </p:sp>
      <p:sp>
        <p:nvSpPr>
          <p:cNvPr id="19" name="v4-text-83">
            <a:extLst xmlns:a="http://schemas.openxmlformats.org/drawingml/2006/main">
              <a:ext uri="{FF2B5EF4-FFF2-40B4-BE49-F238E27FC236}">
                <a16:creationId xmlns:a16="http://schemas.microsoft.com/office/drawing/2014/main" id="{EFB60BD5-7CC7-4CF9-A9C8-BB2E92E6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验收记录绑定素材和规则版本；内容修改后重新检查。</a:t>
            </a:r>
          </a:p>
        </p:txBody>
      </p:sp>
      <p:sp>
        <p:nvSpPr>
          <p:cNvPr id="20" name="v4-text-84">
            <a:extLst xmlns:a="http://schemas.openxmlformats.org/drawingml/2006/main">
              <a:ext uri="{FF2B5EF4-FFF2-40B4-BE49-F238E27FC236}">
                <a16:creationId xmlns:a16="http://schemas.microsoft.com/office/drawing/2014/main" id="{B69A0D25-A6E7-48F0-ABEA-30FEB8B3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修图不改变寻路规则；增加人物不需要另写一套动画播放器。</a:t>
            </a:r>
          </a:p>
        </p:txBody>
      </p:sp>
    </p:spTree>
    <p:extLst>
      <p:ext uri="{BB962C8B-B14F-4D97-AF65-F5344CB8AC3E}">
        <p14:creationId xmlns:p14="http://schemas.microsoft.com/office/powerpoint/2010/main" val="178731893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v4-text-85">
            <a:extLst xmlns:a="http://schemas.openxmlformats.org/drawingml/2006/main">
              <a:ext uri="{FF2B5EF4-FFF2-40B4-BE49-F238E27FC236}">
                <a16:creationId xmlns:a16="http://schemas.microsoft.com/office/drawing/2014/main" id="{4759804D-83EC-412F-B970-529F49E9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包归属与人员责任</a:t>
            </a:r>
          </a:p>
        </p:txBody>
      </p:sp>
      <p:sp>
        <p:nvSpPr>
          <p:cNvPr id="2" name="v4-text-86">
            <a:extLst xmlns:a="http://schemas.openxmlformats.org/drawingml/2006/main">
              <a:ext uri="{FF2B5EF4-FFF2-40B4-BE49-F238E27FC236}">
                <a16:creationId xmlns:a16="http://schemas.microsoft.com/office/drawing/2014/main" id="{6ED5E20C-D763-4AF9-BC48-46B09F5A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858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每个边界有负责人和备份评审者，人数不与包数量绑定</a:t>
            </a:r>
          </a:p>
        </p:txBody>
      </p:sp>
      <p:sp>
        <p:nvSpPr>
          <p:cNvPr id="3" name="v4-text-87">
            <a:extLst xmlns:a="http://schemas.openxmlformats.org/drawingml/2006/main">
              <a:ext uri="{FF2B5EF4-FFF2-40B4-BE49-F238E27FC236}">
                <a16:creationId xmlns:a16="http://schemas.microsoft.com/office/drawing/2014/main" id="{74D8FDB1-5486-46DC-BF3B-9940C698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103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19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05050"/>
                <a:gridCol w="4429125"/>
                <a:gridCol w="4238625"/>
              </a:tblGrid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责任领域</a:t>
                      </a:r>
                    </a:p>
                  </a:txBody>
                  <a:tcPr marL="114300" marR="114300" marT="85725" marB="85725" anchor="ctr">
                    <a:solidFill>
                      <a:srgbClr val="EDF2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维护范围</a:t>
                      </a:r>
                    </a:p>
                  </a:txBody>
                  <a:tcPr marL="114300" marR="114300" marT="85725" marB="85725" anchor="ctr">
                    <a:solidFill>
                      <a:srgbClr val="EDF2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主要交付与验收</a:t>
                      </a:r>
                    </a:p>
                  </a:txBody>
                  <a:tcPr marL="114300" marR="114300" marT="85725" marB="85725" anchor="ctr">
                    <a:solidFill>
                      <a:srgbClr val="EDF2EF"/>
                    </a:solidFill>
                  </a:tcPr>
                </a:tc>
              </a:tr>
              <a:tr h="7048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架构与契约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contracts；跨包接口和兼容策略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接口示例、契约测试、变更决策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运行时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runtime；导航、占用、调度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无头测试、取消恢复、并发正确性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视觉工程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renderer-pixi；物品视图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场景预览、动画一致性、性能基线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内容与工具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office-pack、角色素材、authoring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可安装内容、制作规范、验收记录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应用与集成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apps/office；业务和宿主接入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完整业务样例、端到端与发布验收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v4-text-88">
            <a:extLst xmlns:a="http://schemas.openxmlformats.org/drawingml/2006/main">
              <a:ext uri="{FF2B5EF4-FFF2-40B4-BE49-F238E27FC236}">
                <a16:creationId xmlns:a16="http://schemas.microsoft.com/office/drawing/2014/main" id="{38F8038D-861B-4592-849B-F0753221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架构负责人管理边界；功能负责人对跨包的最终结果负责。</a:t>
            </a:r>
          </a:p>
        </p:txBody>
      </p:sp>
    </p:spTree>
    <p:extLst>
      <p:ext uri="{BB962C8B-B14F-4D97-AF65-F5344CB8AC3E}">
        <p14:creationId xmlns:p14="http://schemas.microsoft.com/office/powerpoint/2010/main" val="150543682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430DA-6B5C-4963-B200-2A29B6EE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工作内容如何拆成任务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E4E77-2218-456A-A11F-08CFC3F4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40481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47875"/>
                <a:gridCol w="5781675"/>
                <a:gridCol w="3143250"/>
              </a:tblGrid>
              <a:tr h="4762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工作组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具体工作域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共同交付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</a:tr>
              <a:tr h="71437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基础契约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① 架构协议　② 世界模型　③ 持久化迁移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可版本化的数据与接口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运行机制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④ 导航碰撞　⑤ 调度协作　⑥ 家具交互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可测试的行为执行链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视觉资源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⑦ 人物动画　⑧ 场景渲染　⑨ 素材构建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一致的画面与资源标准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扩展与应用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⑩ 地图编辑　⑪ 插件场景　⑫ 外部 SDK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可独立接入的扩展能力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工程质量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⑬ 应用调试　⑭ 测试性能　⑮ 开源工程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回归验证、文档和发布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B5BC4-6D55-4E06-BA52-D5F81600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14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十五项是工作域；按接口和验收产物拆任务，不等于十五个人或十五个包。</a:t>
            </a:r>
          </a:p>
        </p:txBody>
      </p:sp>
    </p:spTree>
    <p:extLst>
      <p:ext uri="{BB962C8B-B14F-4D97-AF65-F5344CB8AC3E}">
        <p14:creationId xmlns:p14="http://schemas.microsoft.com/office/powerpoint/2010/main" val="145770334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v4-text-89">
            <a:extLst xmlns:a="http://schemas.openxmlformats.org/drawingml/2006/main">
              <a:ext uri="{FF2B5EF4-FFF2-40B4-BE49-F238E27FC236}">
                <a16:creationId xmlns:a16="http://schemas.microsoft.com/office/drawing/2014/main" id="{B8EE3F87-9449-4665-B4DF-A8BFFA68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跨包需求的协作方式</a:t>
            </a:r>
          </a:p>
        </p:txBody>
      </p:sp>
      <p:sp>
        <p:nvSpPr>
          <p:cNvPr id="2" name="v4-text-90">
            <a:extLst xmlns:a="http://schemas.openxmlformats.org/drawingml/2006/main">
              <a:ext uri="{FF2B5EF4-FFF2-40B4-BE49-F238E27FC236}">
                <a16:creationId xmlns:a16="http://schemas.microsoft.com/office/drawing/2014/main" id="{A5E63005-C085-43DD-9B6C-17C1E978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858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一次需求可以涉及多个维护者，但必须有明确的整体验收负责人</a:t>
            </a:r>
          </a:p>
        </p:txBody>
      </p:sp>
      <p:sp>
        <p:nvSpPr>
          <p:cNvPr id="3" name="v4-text-91">
            <a:extLst xmlns:a="http://schemas.openxmlformats.org/drawingml/2006/main">
              <a:ext uri="{FF2B5EF4-FFF2-40B4-BE49-F238E27FC236}">
                <a16:creationId xmlns:a16="http://schemas.microsoft.com/office/drawing/2014/main" id="{CF8C91EB-D8F3-4EB6-B6B1-88072354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103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21</a:t>
            </a:r>
          </a:p>
        </p:txBody>
      </p:sp>
      <p:sp>
        <p:nvSpPr>
          <p:cNvPr id="4" name="v4-diagram-92">
            <a:extLst xmlns:a="http://schemas.openxmlformats.org/drawingml/2006/main">
              <a:ext uri="{FF2B5EF4-FFF2-40B4-BE49-F238E27FC236}">
                <a16:creationId xmlns:a16="http://schemas.microsoft.com/office/drawing/2014/main" id="{B1C19C55-4B4C-4D44-B2E9-F78149B4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019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明确变化</a:t>
            </a:r>
          </a:p>
        </p:txBody>
      </p:sp>
      <p:sp>
        <p:nvSpPr>
          <p:cNvPr id="5" name="v4-diagram-93">
            <a:extLst xmlns:a="http://schemas.openxmlformats.org/drawingml/2006/main">
              <a:ext uri="{FF2B5EF4-FFF2-40B4-BE49-F238E27FC236}">
                <a16:creationId xmlns:a16="http://schemas.microsoft.com/office/drawing/2014/main" id="{8E049A38-52EB-4FA4-AF68-E151FC68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076450"/>
            <a:ext cx="2019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约定接口</a:t>
            </a:r>
          </a:p>
        </p:txBody>
      </p:sp>
      <p:sp>
        <p:nvSpPr>
          <p:cNvPr id="6" name="v4-diagram-94">
            <a:extLst xmlns:a="http://schemas.openxmlformats.org/drawingml/2006/main">
              <a:ext uri="{FF2B5EF4-FFF2-40B4-BE49-F238E27FC236}">
                <a16:creationId xmlns:a16="http://schemas.microsoft.com/office/drawing/2014/main" id="{961A8E2D-82C6-46AD-978E-9900F2F3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76450"/>
            <a:ext cx="2019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并行开发</a:t>
            </a:r>
          </a:p>
        </p:txBody>
      </p:sp>
      <p:sp>
        <p:nvSpPr>
          <p:cNvPr id="7" name="v4-diagram-95">
            <a:extLst xmlns:a="http://schemas.openxmlformats.org/drawingml/2006/main">
              <a:ext uri="{FF2B5EF4-FFF2-40B4-BE49-F238E27FC236}">
                <a16:creationId xmlns:a16="http://schemas.microsoft.com/office/drawing/2014/main" id="{B131F3EE-FD88-45A1-AAD7-BCC5314B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76450"/>
            <a:ext cx="2019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集成验收</a:t>
            </a:r>
          </a:p>
        </p:txBody>
      </p:sp>
      <p:sp>
        <p:nvSpPr>
          <p:cNvPr id="8" name="v4-diagram-96">
            <a:extLst xmlns:a="http://schemas.openxmlformats.org/drawingml/2006/main">
              <a:ext uri="{FF2B5EF4-FFF2-40B4-BE49-F238E27FC236}">
                <a16:creationId xmlns:a16="http://schemas.microsoft.com/office/drawing/2014/main" id="{D1F06580-B09B-45E6-A9EC-ED38DCA0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76450"/>
            <a:ext cx="2019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9525">
            <a:solidFill>
              <a:srgbClr val="BECBC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版本发布</a:t>
            </a:r>
          </a:p>
        </p:txBody>
      </p:sp>
      <p:cxnSp>
        <p:nvCxnSpPr>
          <p:cNvPr id="3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28900" y="245745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867275" y="245745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105650" y="245745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344025" y="245745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6B55"/>
            </a:solidFill>
            <a:prstDash val="solid"/>
            <a:tailEnd type="triangle" w="sm" len="sm"/>
          </a:ln>
        </p:spPr>
      </p:cxnSp>
      <p:sp>
        <p:nvSpPr>
          <p:cNvPr id="13" name="v4-text-97">
            <a:extLst xmlns:a="http://schemas.openxmlformats.org/drawingml/2006/main">
              <a:ext uri="{FF2B5EF4-FFF2-40B4-BE49-F238E27FC236}">
                <a16:creationId xmlns:a16="http://schemas.microsoft.com/office/drawing/2014/main" id="{6AF3792D-0482-4E78-9F6F-C7A76E24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67050"/>
            <a:ext cx="20193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标出改动边界</a:t>
            </a:r>
          </a:p>
          <a:p xmlns:a="http://schemas.openxmlformats.org/drawingml/2006/main">
            <a:pPr algn="ctr"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确定功能负责人</a:t>
            </a:r>
          </a:p>
        </p:txBody>
      </p:sp>
      <p:sp>
        <p:nvSpPr>
          <p:cNvPr id="14" name="v4-text-98">
            <a:extLst xmlns:a="http://schemas.openxmlformats.org/drawingml/2006/main">
              <a:ext uri="{FF2B5EF4-FFF2-40B4-BE49-F238E27FC236}">
                <a16:creationId xmlns:a16="http://schemas.microsoft.com/office/drawing/2014/main" id="{7F3DF9DC-599A-4FDF-AAE8-184C9F27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67050"/>
            <a:ext cx="20193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输入、输出、错误</a:t>
            </a:r>
          </a:p>
          <a:p xmlns:a="http://schemas.openxmlformats.org/drawingml/2006/main">
            <a:pPr algn="ctr"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能力与版本范围</a:t>
            </a:r>
          </a:p>
        </p:txBody>
      </p:sp>
      <p:sp>
        <p:nvSpPr>
          <p:cNvPr id="15" name="v4-text-99">
            <a:extLst xmlns:a="http://schemas.openxmlformats.org/drawingml/2006/main">
              <a:ext uri="{FF2B5EF4-FFF2-40B4-BE49-F238E27FC236}">
                <a16:creationId xmlns:a16="http://schemas.microsoft.com/office/drawing/2014/main" id="{02F7A7E7-ECB0-4A5D-BE03-4307C716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67050"/>
            <a:ext cx="20193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先提供示例与桩</a:t>
            </a:r>
          </a:p>
          <a:p xmlns:a="http://schemas.openxmlformats.org/drawingml/2006/main">
            <a:pPr algn="ctr"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各包独立测试</a:t>
            </a:r>
          </a:p>
        </p:txBody>
      </p:sp>
      <p:sp>
        <p:nvSpPr>
          <p:cNvPr id="16" name="v4-text-100">
            <a:extLst xmlns:a="http://schemas.openxmlformats.org/drawingml/2006/main">
              <a:ext uri="{FF2B5EF4-FFF2-40B4-BE49-F238E27FC236}">
                <a16:creationId xmlns:a16="http://schemas.microsoft.com/office/drawing/2014/main" id="{1591C72B-1CE9-4ACD-9696-4D534349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67050"/>
            <a:ext cx="20193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正常和异常路径</a:t>
            </a:r>
          </a:p>
          <a:p xmlns:a="http://schemas.openxmlformats.org/drawingml/2006/main">
            <a:pPr algn="ctr"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一起验证</a:t>
            </a:r>
          </a:p>
        </p:txBody>
      </p:sp>
      <p:sp>
        <p:nvSpPr>
          <p:cNvPr id="17" name="v4-text-101">
            <a:extLst xmlns:a="http://schemas.openxmlformats.org/drawingml/2006/main">
              <a:ext uri="{FF2B5EF4-FFF2-40B4-BE49-F238E27FC236}">
                <a16:creationId xmlns:a16="http://schemas.microsoft.com/office/drawing/2014/main" id="{B0E67445-EAF4-4515-8C5E-C56B1585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067050"/>
            <a:ext cx="20193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兼容说明与迁移</a:t>
            </a:r>
          </a:p>
          <a:p xmlns:a="http://schemas.openxmlformats.org/drawingml/2006/main">
            <a:pPr algn="ctr"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可恢复的旧版本</a:t>
            </a:r>
          </a:p>
        </p:txBody>
      </p:sp>
      <p:sp>
        <p:nvSpPr>
          <p:cNvPr id="18" name="v4-text-102">
            <a:extLst xmlns:a="http://schemas.openxmlformats.org/drawingml/2006/main">
              <a:ext uri="{FF2B5EF4-FFF2-40B4-BE49-F238E27FC236}">
                <a16:creationId xmlns:a16="http://schemas.microsoft.com/office/drawing/2014/main" id="{47B6BC29-DC7C-4889-9969-B9D45F33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接口变更</a:t>
            </a:r>
          </a:p>
        </p:txBody>
      </p:sp>
      <p:sp>
        <p:nvSpPr>
          <p:cNvPr id="19" name="v4-text-103">
            <a:extLst xmlns:a="http://schemas.openxmlformats.org/drawingml/2006/main">
              <a:ext uri="{FF2B5EF4-FFF2-40B4-BE49-F238E27FC236}">
                <a16:creationId xmlns:a16="http://schemas.microsoft.com/office/drawing/2014/main" id="{DD6CF2EB-54EE-4608-8FE9-D69A758F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572000"/>
            <a:ext cx="896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提供方与使用方共同评审，重大变化留下设计决策记录。</a:t>
            </a:r>
          </a:p>
        </p:txBody>
      </p:sp>
      <p:sp>
        <p:nvSpPr>
          <p:cNvPr id="20" name="v4-text-104">
            <a:extLst xmlns:a="http://schemas.openxmlformats.org/drawingml/2006/main">
              <a:ext uri="{FF2B5EF4-FFF2-40B4-BE49-F238E27FC236}">
                <a16:creationId xmlns:a16="http://schemas.microsoft.com/office/drawing/2014/main" id="{992BB0C9-A7C0-415B-8E63-D4DF4E71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开源协作</a:t>
            </a:r>
          </a:p>
        </p:txBody>
      </p:sp>
      <p:sp>
        <p:nvSpPr>
          <p:cNvPr id="21" name="v4-text-105">
            <a:extLst xmlns:a="http://schemas.openxmlformats.org/drawingml/2006/main">
              <a:ext uri="{FF2B5EF4-FFF2-40B4-BE49-F238E27FC236}">
                <a16:creationId xmlns:a16="http://schemas.microsoft.com/office/drawing/2014/main" id="{B0A5B476-AD5F-467E-9E96-DBAA2E35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00650"/>
            <a:ext cx="896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用 CODEOWNERS 标记归属，用示例和 CI 说明贡献要求。</a:t>
            </a:r>
          </a:p>
        </p:txBody>
      </p:sp>
      <p:sp>
        <p:nvSpPr>
          <p:cNvPr id="22" name="v4-text-106">
            <a:extLst xmlns:a="http://schemas.openxmlformats.org/drawingml/2006/main">
              <a:ext uri="{FF2B5EF4-FFF2-40B4-BE49-F238E27FC236}">
                <a16:creationId xmlns:a16="http://schemas.microsoft.com/office/drawing/2014/main" id="{D9A29E00-E093-4232-989A-7B3313C5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完整链路可用是共同交付标准，不能只看各包是否编译通过。</a:t>
            </a:r>
          </a:p>
        </p:txBody>
      </p:sp>
    </p:spTree>
    <p:extLst>
      <p:ext uri="{BB962C8B-B14F-4D97-AF65-F5344CB8AC3E}">
        <p14:creationId xmlns:p14="http://schemas.microsoft.com/office/powerpoint/2010/main" val="70449822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E14E6-EFB8-4A33-9B2A-E3745EC0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渐进迁移顺序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F2F31-9B21-471F-BBAD-B9A4B267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22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33625"/>
                <a:gridCol w="5314950"/>
                <a:gridCol w="3324225"/>
              </a:tblGrid>
              <a:tr h="4762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主要工作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验收产物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</a:tr>
              <a:tr h="773906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  固定现有行为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梳理命令、状态、动作能力与错误语义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行为基线测试与协议样例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3906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  提取公共边界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拆分 contracts 与 runtime，约束依赖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无浏览器测试、跨包契约测试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3906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  分离内容与表现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拆出渲染器、场景包、素材与制作工具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完整交互效果保持一致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3906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  验证复用与发布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新人物、新家具、第二个外部接入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兼容说明、示例、回归与发布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4018F-6347-4F41-B0AB-EF8863C6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每个阶段保持完整链路可用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C6DEED-2588-4A43-B6AA-C5B4EA62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220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命令、移动、交流、回座、取消与结果回执一起验收。</a:t>
            </a:r>
          </a:p>
        </p:txBody>
      </p:sp>
    </p:spTree>
    <p:extLst>
      <p:ext uri="{BB962C8B-B14F-4D97-AF65-F5344CB8AC3E}">
        <p14:creationId xmlns:p14="http://schemas.microsoft.com/office/powerpoint/2010/main" val="35230407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159DF-60DE-42B9-816A-26538BBE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当前基础与开源交付清单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59C02-2450-409D-8D90-EF09EE8F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319E9-9CBF-42FF-8571-B7B1FDCF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已有基础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368C9-27AA-48F3-BD13-23B69FFF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50387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无头运行时与版本化场景协议</a:t>
            </a:r>
          </a:p>
          <a:p xmlns:a="http://schemas.openxmlformats.org/drawingml/2006/main">
            <a:pPr>
              <a:buNone/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整数格、家具互动与可信内置插件</a:t>
            </a:r>
          </a:p>
          <a:p xmlns:a="http://schemas.openxmlformats.org/drawingml/2006/main">
            <a:pPr>
              <a:buNone/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独立角色包与素材准入流程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8AFA7-0BDE-45BF-B894-9F12DD84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383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B05D4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B05D4E"/>
                </a:solidFill>
                <a:latin typeface="Arial Unicode MS"/>
                <a:ea typeface="Arial Unicode MS"/>
                <a:cs typeface="Arial Unicode MS"/>
              </a:rPr>
              <a:t>后续补齐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85125-2F5F-465B-B1D8-A67C5501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71725"/>
            <a:ext cx="5105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独立包边界、兼容矩阵与公开样例</a:t>
            </a:r>
          </a:p>
          <a:p xmlns:a="http://schemas.openxmlformats.org/drawingml/2006/main">
            <a:pPr>
              <a:buNone/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包负责人、贡献指南和自动化发布</a:t>
            </a:r>
          </a:p>
          <a:p xmlns:a="http://schemas.openxmlformats.org/drawingml/2006/main">
            <a:pPr>
              <a:buNone/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生产接入的权限与可靠性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C090F-1F41-42FC-993F-C70AEFDE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610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共同验收底线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07DD0-6162-4004-B4B6-E25A0849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0612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正常流程之外，覆盖堵路、并发、取消、缺素材与恢复路径。</a:t>
            </a:r>
          </a:p>
          <a:p xmlns:a="http://schemas.openxmlformats.org/drawingml/2006/main">
            <a:pPr>
              <a:buNone/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代码、图片和字体分别核对许可；已实现和规划功能明确区分。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15EEBB-778B-4320-8F88-E2EBF604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14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首版面向可信扩展；远程不可信插件市场与沙箱不在本次范围。</a:t>
            </a:r>
          </a:p>
        </p:txBody>
      </p:sp>
    </p:spTree>
    <p:extLst>
      <p:ext uri="{BB962C8B-B14F-4D97-AF65-F5344CB8AC3E}">
        <p14:creationId xmlns:p14="http://schemas.microsoft.com/office/powerpoint/2010/main" val="14359124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2026-09-30T13:10:44.8010000Z</dcterms:created>
  <dcterms:modified xsi:type="dcterms:W3CDTF">2026-09-30T13:10:44.8010000Z</dcterms:modified>
</coreProperties>
</file>